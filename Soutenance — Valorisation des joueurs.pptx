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vais vous présenter mon projet : la valorisation des joueurs des cinq grands championnats européens sur la saison 2025-26. La question de départ est simple : est-ce que le prix d'un joueur suit ce qu'il fait sur le terrain ? On va voir que la réponse est « en partie », et surtout ce que le marché paie en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problématique : peut-on estimer, avec du machine learning, la valeur d'un joueur à partir de ses performances, et repérer ceux que le marché paie trop cher ou pas assez ? La démarche tient en trois étapes : on part des performances ; une régression apprend sur les 1 160 cotes comment le marché paie, en moyenne, les stats, l'âge, le poste et la ligue : c'est la règle ; puis on compare la cote de chaque joueur à ce prix moyen. L'écart, c'est ce que le marché paie en plus ou en moins. Pour un club, c'est un prix de référence en négociation. Précision : je n'essaie pas de prédire la cote future, j'estime la valeur actuelle. La prévision est une piste pour la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sources. FBref pour les performances, Transfermarkt pour la cote, SalarySport pour les salaires et les fins de contrat, que j'ai récupérés par web scraping, et un panel Instagram de 100 joueurs relevé à la main. Le schéma montre le pipeline du scraping : source, collecte automatisée, nettoyage, filtre sur les cinq championnats, puis le fichier final. À droite, l'entonnoir : 3 730 joueurs au départ sur 8 championnats, 1 422 après le filtre Big 5 et 900 minutes minimum, et 1 160 qui ont une cote Transfermarkt. Ce sont eux qui servent au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préparation en quatre étapes. Un : je filtre sur les cinq grands championnats et au moins 900 minutes, sinon les stats par 90 minutes ne veulent rien dire. Deux : FBref et Transfermarkt n'ont pas d'identifiant commun, je joins donc sur le nom, la ligue et le poste, après avoir enlevé les accents ; 82 % des joueurs se retrouvent. Trois : tout est ramené à 90 minutes. Quatre : la cote passe en log, parce que quelques stars tirent tout vers le haut, et l'écart se lit comme un multiplicateur marché divisé par règle. À droite, le log du scraping SalarySport avec requests et BeautifulSoup : cinq pages lues, 1 980 joueurs du Big 5 récupérés, aucun salaire illisible. Au final, 718 joueurs du modèle ont un salaire et une durée de contrat.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SQL, j'ai mis les données dans MySQL avec quatre tables : les joueurs au centre, deux tables de libellés pour les postes et les ligues, et la table des salaires issue du web scraping, reliée par l'identifiant FBref. Le script a quatre parties. Un : créer les tables. Deux : la cote moyenne et le salaire moyen par pays, avec des jointures et des GROUP BY. Trois : les joueurs les plus surcotés, le top 8 avec ORDER BY et LIMIT, puis le numéro un de chaque ligue avec RANK(). Quatre, celle que je montre : l'effet du contrat. Je regroupe les joueurs par années de contrat restantes et je calcule la cote médiane et le multiplicateur médian. MySQL n'a pas de fonction médiane, je la calcule avec ROW_NUMBER() en prenant la valeur du milieu ; on retrouve les chiffres de Python. Un joueur à 4 ans de contrat vaut 30 M€ en médiane, contre 3,5 M€ en fin de contrat.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de l'analyse : ce que paie le marché. L'encadré rappelle ce que la règle utilise : sept stats de jeu ramenées à 90 minutes (buts, xG, passes décisives, xA, tacles, interceptions, arrêts), plus l'âge, les minutes jouées, le poste et le championnat ; elle prédit le log de la cote. Le championnat d'abord : la cote médiane est de 26 M€ en Premier League, contre 6 à 9 M€ ailleurs. Ensuite l'âge : chaque année coûte 17 % de cote. Les stats offensives comptent un peu ; les stats défensives presque pas. Un gardien qui fait beaucoup d'arrêts vaut même moins : c'est souvent le gardien d'une équipe qui subit. Une stat seule ne fait jamais le prix. Il faut les combiner, d'où le modèle. La régression explique 64 % de la cote en log en validation croisée sur 5 blocs. Je l'ai comparée à une forêt aléatoire, qui fait 61 % et apprend par cœur. Je garde la régression : elle généralise mieux et on peut expliquer chaque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ce que la règle ne voit pas. Le maillot d'abord : à stats, âge, poste et ligue égaux, un joueur de grand club vaut 2,8 fois plus. Sur les joueurs dont on connaît le contrat, la règle seule explique 62 % de la cote ; avec le grand club, on passe à 73 %, et 74 % en ajoutant le contrat. Le contrat ensuite, mon résultat clé. Les barres montrent la cote médiane, qui monte avec les années de contrat, mais en partie parce que les jeunes ont des contrats plus longs. La courbe corrige ça : c'est l'écart à la règle, qui tient déjà compte de l'âge. Il passe de 0,87 en fin de contrat à 1,44 à quatre ans : environ +14 % de cote par année de contrat, à âge égal. Logique : un joueur en fin de contrat part gratuitement. Enfin Instagram : sur le panel de 100 joueurs, le tiers le plus suivi vaut 1,7 fois la règle, le tiers le moins suivi 0,6 fois, mais c'est un seul relevé, je ne peux pas dire qui cause quoi. À droite, les joueurs les plus au-dessus de la règle : presque tous dans de grands clubs, et beaucoup de défenseurs dont la qualité ne se voit pas dans les tacles.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Power BI reprend tout ça en 7 pages, avec des filtres championnat et poste. Cadre : le périmètre et les chiffres clés. Marché : la cote médiane par ligue et par poste. Règle : la cote réelle contre la cote prédite. Écarts : les joueurs les plus sur- et sous-cotés. Club et contrat : l'effet du maillot et du contrat. Instagram : les abonnés face à l'écart à la règle. Fiche joueur : un joueur en détail. Ici, la page Club et contrat : à gauche le multiplicateur grand club contre autre club, au milieu l'effet du contrat avec la cote et le multiplicateur, à droite le nuage salaire contre cote, un point par joueur. Je vais vous montrer la fiche joueur en direct : on choisit un joueur, et on voit sa cote de marché, sa cote selon la règle, l'écart, et la médiane de son poste. [Si Power BI est lent : montrer une capture de la fiche.]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qu'un club peut en faire, en quatre leviers. Un : utiliser la règle comme prix de référence en négociation ; au-delà de deux fois la règle, on paie le nom ou le maillot, pas la saison. Deux : chercher hors des grands clubs, où le même profil coûte environ 2,8 fois moins cher. Trois : viser les joueurs à un an ou moins de leur fin de contrat ; ils valent environ 0,9 fois la règle, et le club vendeur a intérêt à vendre avant de les perdre gratuitement. Quatre : ne pas payer la prime de la Premier League quand on recrute ailleurs ; à l'inverse, un club peut vendre plus cher à un club anglais.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finir, les limites : les jointures se font sur le nom, avec 82 % de réussite pour les cotes et 62 % pour les salaires ; les contrats qui finissent après 2030 ne sont pas sur SalarySport ; les salaires sont des estimations ; et le panel Instagram n'est qu'un relevé de 100 joueurs. La suite logique, c'est la prédiction : avec l'historique des cotes Transfermarkt et plusieurs saisons FBref, on peut entraîner un modèle sur une saison et prédire la cote de la saison suivante, puis le tester sur une saison qu'il n'a jamais vue. Merci, je suis prête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B365D"/>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92250"/>
            <a:ext cx="10566400" cy="4152950"/>
          </a:xfrm>
          <a:prstGeom prst="rect">
            <a:avLst/>
          </a:prstGeom>
          <a:noFill/>
          <a:ln/>
        </p:spPr>
        <p:txBody>
          <a:bodyPr wrap="square" lIns="0" tIns="0" rIns="0" bIns="0" rtlCol="0" anchor="t"/>
          <a:lstStyle>
            <a:lvl1pPr algn="l" indent="0" marL="0">
              <a:lnSpc>
                <a:spcPct val="140000"/>
              </a:lnSpc>
              <a:buNone/>
              <a:defRPr lang="en-US" sz="1600" dirty="0">
                <a:solidFill>
                  <a:srgbClr val="1B365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408930"/>
          </a:xfrm>
          <a:prstGeom prst="rect">
            <a:avLst/>
          </a:prstGeom>
          <a:noFill/>
          <a:ln/>
        </p:spPr>
        <p:txBody>
          <a:bodyPr wrap="square" lIns="0" tIns="0" rIns="0" bIns="0" rtlCol="0" anchor="t"/>
          <a:lstStyle>
            <a:lvl1pPr algn="l" indent="0" marL="0">
              <a:lnSpc>
                <a:spcPct val="115000"/>
              </a:lnSpc>
              <a:buNone/>
              <a:defRPr lang="en-US" sz="2800" dirty="0">
                <a:solidFill>
                  <a:srgbClr val="1B365D"/>
                </a:solidFill>
                <a:latin typeface="Arial" pitchFamily="34" charset="0"/>
                <a:ea typeface="Arial" pitchFamily="34" charset="-122"/>
                <a:cs typeface="Arial"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892250"/>
            <a:ext cx="10566400" cy="4152950"/>
          </a:xfrm>
          <a:prstGeom prst="rect">
            <a:avLst/>
          </a:prstGeom>
          <a:noFill/>
          <a:ln/>
        </p:spPr>
        <p:txBody>
          <a:bodyPr wrap="square" lIns="0" tIns="0" rIns="0" bIns="0" rtlCol="0" anchor="t"/>
          <a:lstStyle>
            <a:lvl1pPr algn="l" indent="0" marL="0">
              <a:lnSpc>
                <a:spcPct val="140000"/>
              </a:lnSpc>
              <a:buNone/>
              <a:defRPr lang="en-US" sz="1600" dirty="0">
                <a:solidFill>
                  <a:srgbClr val="1B365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365D"/>
              </a:gs>
              <a:gs pos="100000">
                <a:srgbClr val="14263F"/>
              </a:gs>
            </a:gsLst>
            <a:lin ang="2700000" scaled="0"/>
          </a:gradFill>
          <a:ln/>
        </p:spPr>
      </p:sp>
      <p:pic>
        <p:nvPicPr>
          <p:cNvPr id="3" name="Image 0" descr="Terrain de football stylisé">    </p:cNvPr>
          <p:cNvPicPr>
            <a:picLocks noChangeAspect="1"/>
          </p:cNvPicPr>
          <p:nvPr/>
        </p:nvPicPr>
        <p:blipFill>
          <a:blip r:embed="rId1">
            <a:alphaModFix amt="55000"/>
          </a:blip>
          <a:srcRect l="0" r="0" t="0" b="0"/>
          <a:stretch/>
        </p:blipFill>
        <p:spPr>
          <a:xfrm>
            <a:off x="7493000" y="825500"/>
            <a:ext cx="3937000" cy="5207000"/>
          </a:xfrm>
          <a:prstGeom prst="rect">
            <a:avLst/>
          </a:prstGeom>
        </p:spPr>
      </p:pic>
      <p:sp>
        <p:nvSpPr>
          <p:cNvPr id="4" name="Text 1"/>
          <p:cNvSpPr/>
          <p:nvPr/>
        </p:nvSpPr>
        <p:spPr>
          <a:xfrm>
            <a:off x="812800" y="1677095"/>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C4A35A"/>
                </a:solidFill>
                <a:latin typeface="Arial" pitchFamily="34" charset="0"/>
                <a:ea typeface="Arial" pitchFamily="34" charset="-122"/>
                <a:cs typeface="Arial" pitchFamily="34" charset="-120"/>
              </a:rPr>
              <a:t>PROJET FINAL · FORMATION DATA ANALYST</a:t>
            </a:r>
            <a:endParaRPr lang="en-US" sz="1300" dirty="0"/>
          </a:p>
        </p:txBody>
      </p:sp>
      <p:sp>
        <p:nvSpPr>
          <p:cNvPr id="5" name="Text 2"/>
          <p:cNvSpPr/>
          <p:nvPr>
            <p:ph type="title"/>
          </p:nvPr>
        </p:nvSpPr>
        <p:spPr>
          <a:xfrm>
            <a:off x="812800" y="2111425"/>
            <a:ext cx="7063740"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7F5F2"/>
                </a:solidFill>
                <a:latin typeface="Arial" pitchFamily="34" charset="0"/>
                <a:ea typeface="Arial" pitchFamily="34" charset="-122"/>
                <a:cs typeface="Arial" pitchFamily="34" charset="-120"/>
              </a:rPr>
              <a:t>Valorisation des joueurs</a:t>
            </a:r>
            <a:endParaRPr lang="en-US" sz="5600" dirty="0"/>
          </a:p>
        </p:txBody>
      </p:sp>
      <p:sp>
        <p:nvSpPr>
          <p:cNvPr id="6" name="Text 3"/>
          <p:cNvSpPr/>
          <p:nvPr/>
        </p:nvSpPr>
        <p:spPr>
          <a:xfrm>
            <a:off x="812800" y="3808065"/>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dirty="0">
                <a:solidFill>
                  <a:srgbClr val="C4A35A"/>
                </a:solidFill>
                <a:latin typeface="Arial" pitchFamily="34" charset="0"/>
                <a:ea typeface="Arial" pitchFamily="34" charset="-122"/>
                <a:cs typeface="Arial" pitchFamily="34" charset="-120"/>
              </a:rPr>
              <a:t>Big 5 · saison 2025-26</a:t>
            </a:r>
            <a:endParaRPr lang="en-US" sz="2800" dirty="0"/>
          </a:p>
        </p:txBody>
      </p:sp>
      <p:sp>
        <p:nvSpPr>
          <p:cNvPr id="7" name="Text 4"/>
          <p:cNvSpPr/>
          <p:nvPr/>
        </p:nvSpPr>
        <p:spPr>
          <a:xfrm>
            <a:off x="812800" y="4420195"/>
            <a:ext cx="6409690" cy="33397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3E0"/>
                </a:solidFill>
                <a:latin typeface="Arial" pitchFamily="34" charset="0"/>
                <a:ea typeface="Arial" pitchFamily="34" charset="-122"/>
                <a:cs typeface="Arial" pitchFamily="34" charset="-120"/>
              </a:rPr>
              <a:t>Le prix d'un joueur suit-il ses performances ?</a:t>
            </a:r>
            <a:endParaRPr lang="en-US" sz="1800" dirty="0"/>
          </a:p>
        </p:txBody>
      </p:sp>
      <p:sp>
        <p:nvSpPr>
          <p:cNvPr id="8" name="Shape 5"/>
          <p:cNvSpPr/>
          <p:nvPr/>
        </p:nvSpPr>
        <p:spPr>
          <a:xfrm>
            <a:off x="812800" y="5043686"/>
            <a:ext cx="406400" cy="25400"/>
          </a:xfrm>
          <a:prstGeom prst="rect">
            <a:avLst/>
          </a:prstGeom>
          <a:solidFill>
            <a:srgbClr val="C4A35A"/>
          </a:solidFill>
          <a:ln/>
        </p:spPr>
      </p:sp>
      <p:sp>
        <p:nvSpPr>
          <p:cNvPr id="9" name="Text 6"/>
          <p:cNvSpPr/>
          <p:nvPr/>
        </p:nvSpPr>
        <p:spPr>
          <a:xfrm>
            <a:off x="1320800" y="4931966"/>
            <a:ext cx="47803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7F5F2"/>
                </a:solidFill>
                <a:latin typeface="Arial" pitchFamily="34" charset="0"/>
                <a:ea typeface="Arial" pitchFamily="34" charset="-122"/>
                <a:cs typeface="Arial" pitchFamily="34" charset="-120"/>
              </a:rPr>
              <a:t>Justine Meignen · Soutenance du 13 octobre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PROBLÉMATIQUE</a:t>
            </a:r>
            <a:endParaRPr lang="en-US" sz="1200" dirty="0"/>
          </a:p>
        </p:txBody>
      </p:sp>
      <p:sp>
        <p:nvSpPr>
          <p:cNvPr id="3" name="Text 1"/>
          <p:cNvSpPr/>
          <p:nvPr>
            <p:ph type="title"/>
          </p:nvPr>
        </p:nvSpPr>
        <p:spPr>
          <a:xfrm>
            <a:off x="812800" y="1178520"/>
            <a:ext cx="10203180" cy="1305471"/>
          </a:xfrm>
          <a:prstGeom prst="rect">
            <a:avLst/>
          </a:prstGeom>
          <a:noFill/>
          <a:ln/>
        </p:spPr>
        <p:txBody>
          <a:bodyPr wrap="square" lIns="0" tIns="0" rIns="0" bIns="0" rtlCol="0" anchor="t">
            <a:normAutofit/>
          </a:bodyPr>
          <a:lstStyle/>
          <a:p>
            <a:pPr algn="l" indent="0" marL="0">
              <a:lnSpc>
                <a:spcPts val="3360"/>
              </a:lnSpc>
              <a:buNone/>
            </a:pPr>
            <a:r>
              <a:rPr lang="en-US" sz="2800" b="1" i="0" dirty="0">
                <a:solidFill>
                  <a:srgbClr val="1B365D"/>
                </a:solidFill>
                <a:latin typeface="Arial" pitchFamily="34" charset="0"/>
                <a:ea typeface="Arial" pitchFamily="34" charset="-122"/>
                <a:cs typeface="Arial" pitchFamily="34" charset="-120"/>
              </a:rPr>
              <a:t>Peut-on estimer, avec du machine learning, la valeur d'un joueur à partir de ses performances, et repérer ceux que le marché paie trop cher ou pas assez ?</a:t>
            </a:r>
            <a:endParaRPr lang="en-US" sz="2800" dirty="0"/>
          </a:p>
        </p:txBody>
      </p:sp>
      <p:sp>
        <p:nvSpPr>
          <p:cNvPr id="4" name="Shape 2"/>
          <p:cNvSpPr/>
          <p:nvPr/>
        </p:nvSpPr>
        <p:spPr>
          <a:xfrm>
            <a:off x="819150" y="3562350"/>
            <a:ext cx="2832100" cy="1440160"/>
          </a:xfrm>
          <a:prstGeom prst="roundRect">
            <a:avLst>
              <a:gd name="adj" fmla="val 10141"/>
            </a:avLst>
          </a:prstGeom>
          <a:solidFill>
            <a:srgbClr val="FFFCF7"/>
          </a:solidFill>
          <a:ln w="12700">
            <a:solidFill>
              <a:srgbClr val="D4C4A8"/>
            </a:solidFill>
            <a:prstDash val="solid"/>
          </a:ln>
          <a:effectLst>
            <a:outerShdw sx="100000" sy="100000" kx="0" ky="0" algn="bl" rotWithShape="0" blurRad="152400" dist="50800" dir="5400000">
              <a:srgbClr val="1B365D">
                <a:alpha val="10000"/>
              </a:srgbClr>
            </a:outerShdw>
          </a:effectLst>
        </p:spPr>
      </p:sp>
      <p:sp>
        <p:nvSpPr>
          <p:cNvPr id="5" name="Text 3"/>
          <p:cNvSpPr/>
          <p:nvPr/>
        </p:nvSpPr>
        <p:spPr>
          <a:xfrm>
            <a:off x="1054100" y="37973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1B365D"/>
          </a:solidFill>
          <a:ln/>
        </p:spPr>
        <p:txBody>
          <a:bodyPr wrap="square" lIns="0" tIns="0" rIns="0" bIns="0" rtlCol="0" anchor="t">
            <a:normAutofit/>
          </a:bodyPr>
          <a:lstStyle/>
          <a:p>
            <a:pPr algn="ctr" indent="0" marL="0">
              <a:lnSpc>
                <a:spcPts val="3200"/>
              </a:lnSpc>
              <a:buNone/>
            </a:pPr>
            <a:r>
              <a:rPr lang="en-US" sz="1600" b="1" dirty="0">
                <a:solidFill>
                  <a:srgbClr val="F7F5F2"/>
                </a:solidFill>
                <a:latin typeface="Arial" pitchFamily="34" charset="0"/>
                <a:ea typeface="Arial" pitchFamily="34" charset="-122"/>
                <a:cs typeface="Arial" pitchFamily="34" charset="-120"/>
              </a:rPr>
              <a:t>1</a:t>
            </a:r>
            <a:endParaRPr lang="en-US" sz="1600" dirty="0"/>
          </a:p>
        </p:txBody>
      </p:sp>
      <p:sp>
        <p:nvSpPr>
          <p:cNvPr id="6" name="Text 4"/>
          <p:cNvSpPr/>
          <p:nvPr/>
        </p:nvSpPr>
        <p:spPr>
          <a:xfrm>
            <a:off x="1587500" y="3863330"/>
            <a:ext cx="1677174"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365D"/>
                </a:solidFill>
                <a:latin typeface="Arial" pitchFamily="34" charset="0"/>
                <a:ea typeface="Arial" pitchFamily="34" charset="-122"/>
                <a:cs typeface="Arial" pitchFamily="34" charset="-120"/>
              </a:rPr>
              <a:t>Performance</a:t>
            </a:r>
            <a:endParaRPr lang="en-US" sz="1800" dirty="0"/>
          </a:p>
        </p:txBody>
      </p:sp>
      <p:sp>
        <p:nvSpPr>
          <p:cNvPr id="7" name="Text 5"/>
          <p:cNvSpPr/>
          <p:nvPr/>
        </p:nvSpPr>
        <p:spPr>
          <a:xfrm>
            <a:off x="1054100" y="4305300"/>
            <a:ext cx="243306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E"/>
                </a:solidFill>
                <a:latin typeface="Arial" pitchFamily="34" charset="0"/>
                <a:ea typeface="Arial" pitchFamily="34" charset="-122"/>
                <a:cs typeface="Arial" pitchFamily="34" charset="-120"/>
              </a:rPr>
              <a:t>Stats par 90 minutes, poste, championnat, âge</a:t>
            </a:r>
            <a:endParaRPr lang="en-US" sz="1300" dirty="0"/>
          </a:p>
        </p:txBody>
      </p:sp>
      <p:pic>
        <p:nvPicPr>
          <p:cNvPr id="8" name="Image 0" descr="arrow-right">    </p:cNvPr>
          <p:cNvPicPr>
            <a:picLocks noChangeAspect="1"/>
          </p:cNvPicPr>
          <p:nvPr/>
        </p:nvPicPr>
        <p:blipFill>
          <a:blip r:embed="rId1"/>
          <a:srcRect l="0" r="0" t="0" b="0"/>
          <a:stretch/>
        </p:blipFill>
        <p:spPr>
          <a:xfrm>
            <a:off x="3759200" y="4292600"/>
            <a:ext cx="711200" cy="355600"/>
          </a:xfrm>
          <a:prstGeom prst="rect">
            <a:avLst/>
          </a:prstGeom>
        </p:spPr>
      </p:pic>
      <p:sp>
        <p:nvSpPr>
          <p:cNvPr id="9" name="Shape 6"/>
          <p:cNvSpPr/>
          <p:nvPr/>
        </p:nvSpPr>
        <p:spPr>
          <a:xfrm>
            <a:off x="4578350" y="3562350"/>
            <a:ext cx="2832100" cy="1440160"/>
          </a:xfrm>
          <a:prstGeom prst="roundRect">
            <a:avLst>
              <a:gd name="adj" fmla="val 10141"/>
            </a:avLst>
          </a:prstGeom>
          <a:solidFill>
            <a:srgbClr val="FFFCF7"/>
          </a:solidFill>
          <a:ln w="12700">
            <a:solidFill>
              <a:srgbClr val="D4C4A8"/>
            </a:solidFill>
            <a:prstDash val="solid"/>
          </a:ln>
          <a:effectLst>
            <a:outerShdw sx="100000" sy="100000" kx="0" ky="0" algn="bl" rotWithShape="0" blurRad="152400" dist="50800" dir="5400000">
              <a:srgbClr val="1B365D">
                <a:alpha val="10000"/>
              </a:srgbClr>
            </a:outerShdw>
          </a:effectLst>
        </p:spPr>
      </p:sp>
      <p:sp>
        <p:nvSpPr>
          <p:cNvPr id="10" name="Text 7"/>
          <p:cNvSpPr/>
          <p:nvPr/>
        </p:nvSpPr>
        <p:spPr>
          <a:xfrm>
            <a:off x="4813300" y="37973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1B365D"/>
          </a:solidFill>
          <a:ln/>
        </p:spPr>
        <p:txBody>
          <a:bodyPr wrap="square" lIns="0" tIns="0" rIns="0" bIns="0" rtlCol="0" anchor="t">
            <a:normAutofit/>
          </a:bodyPr>
          <a:lstStyle/>
          <a:p>
            <a:pPr algn="ctr" indent="0" marL="0">
              <a:lnSpc>
                <a:spcPts val="3200"/>
              </a:lnSpc>
              <a:buNone/>
            </a:pPr>
            <a:r>
              <a:rPr lang="en-US" sz="1600" b="1" dirty="0">
                <a:solidFill>
                  <a:srgbClr val="F7F5F2"/>
                </a:solidFill>
                <a:latin typeface="Arial" pitchFamily="34" charset="0"/>
                <a:ea typeface="Arial" pitchFamily="34" charset="-122"/>
                <a:cs typeface="Arial" pitchFamily="34" charset="-120"/>
              </a:rPr>
              <a:t>2</a:t>
            </a:r>
            <a:endParaRPr lang="en-US" sz="1600" dirty="0"/>
          </a:p>
        </p:txBody>
      </p:sp>
      <p:sp>
        <p:nvSpPr>
          <p:cNvPr id="11" name="Text 8"/>
          <p:cNvSpPr/>
          <p:nvPr/>
        </p:nvSpPr>
        <p:spPr>
          <a:xfrm>
            <a:off x="5346700" y="3863330"/>
            <a:ext cx="944999"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B365D"/>
                </a:solidFill>
                <a:latin typeface="Arial" pitchFamily="34" charset="0"/>
                <a:ea typeface="Arial" pitchFamily="34" charset="-122"/>
                <a:cs typeface="Arial" pitchFamily="34" charset="-120"/>
              </a:rPr>
              <a:t>Modèle</a:t>
            </a:r>
            <a:endParaRPr lang="en-US" sz="1800" dirty="0"/>
          </a:p>
        </p:txBody>
      </p:sp>
      <p:sp>
        <p:nvSpPr>
          <p:cNvPr id="12" name="Text 9"/>
          <p:cNvSpPr/>
          <p:nvPr/>
        </p:nvSpPr>
        <p:spPr>
          <a:xfrm>
            <a:off x="4813300" y="4305300"/>
            <a:ext cx="243306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A5E"/>
                </a:solidFill>
                <a:latin typeface="Arial" pitchFamily="34" charset="0"/>
                <a:ea typeface="Arial" pitchFamily="34" charset="-122"/>
                <a:cs typeface="Arial" pitchFamily="34" charset="-120"/>
              </a:rPr>
              <a:t>Apprise sur les cotes : le prix moyen du marché</a:t>
            </a:r>
            <a:endParaRPr lang="en-US" sz="1300" dirty="0"/>
          </a:p>
        </p:txBody>
      </p:sp>
      <p:pic>
        <p:nvPicPr>
          <p:cNvPr id="13" name="Image 1" descr="arrow-right">    </p:cNvPr>
          <p:cNvPicPr>
            <a:picLocks noChangeAspect="1"/>
          </p:cNvPicPr>
          <p:nvPr/>
        </p:nvPicPr>
        <p:blipFill>
          <a:blip r:embed="rId2"/>
          <a:srcRect l="0" r="0" t="0" b="0"/>
          <a:stretch/>
        </p:blipFill>
        <p:spPr>
          <a:xfrm>
            <a:off x="7518400" y="4292600"/>
            <a:ext cx="711200" cy="355600"/>
          </a:xfrm>
          <a:prstGeom prst="rect">
            <a:avLst/>
          </a:prstGeom>
        </p:spPr>
      </p:pic>
      <p:sp>
        <p:nvSpPr>
          <p:cNvPr id="14" name="Shape 10"/>
          <p:cNvSpPr/>
          <p:nvPr/>
        </p:nvSpPr>
        <p:spPr>
          <a:xfrm>
            <a:off x="8337550" y="3562350"/>
            <a:ext cx="2832100" cy="1440160"/>
          </a:xfrm>
          <a:prstGeom prst="roundRect">
            <a:avLst>
              <a:gd name="adj" fmla="val 10141"/>
            </a:avLst>
          </a:prstGeom>
          <a:solidFill>
            <a:srgbClr val="1B365D"/>
          </a:solidFill>
          <a:ln w="12700">
            <a:solidFill>
              <a:srgbClr val="1B365D"/>
            </a:solidFill>
            <a:prstDash val="solid"/>
          </a:ln>
          <a:effectLst>
            <a:outerShdw sx="100000" sy="100000" kx="0" ky="0" algn="bl" rotWithShape="0" blurRad="152400" dist="50800" dir="5400000">
              <a:srgbClr val="1B365D">
                <a:alpha val="18000"/>
              </a:srgbClr>
            </a:outerShdw>
          </a:effectLst>
        </p:spPr>
      </p:sp>
      <p:sp>
        <p:nvSpPr>
          <p:cNvPr id="15" name="Text 11"/>
          <p:cNvSpPr/>
          <p:nvPr/>
        </p:nvSpPr>
        <p:spPr>
          <a:xfrm>
            <a:off x="8572500" y="3797300"/>
            <a:ext cx="406400" cy="406400"/>
          </a:xfrm>
          <a:custGeom>
            <a:avLst/>
            <a:gdLst/>
            <a:ahLst/>
            <a:cxnLst/>
            <a:rect l="l" t="t" r="r" b="b"/>
            <a:pathLst>
              <a:path w="406400" h="406400">
                <a:moveTo>
                  <a:pt x="203200" y="0"/>
                </a:moveTo>
                <a:lnTo>
                  <a:pt x="203200" y="0"/>
                </a:lnTo>
                <a:arcTo hR="203200" wR="203200" stAng="16200000" swAng="5400000"/>
                <a:lnTo>
                  <a:pt x="406400" y="203200"/>
                </a:lnTo>
                <a:arcTo hR="203200" wR="203200" stAng="0" swAng="5400000"/>
                <a:lnTo>
                  <a:pt x="203200" y="406400"/>
                </a:lnTo>
                <a:arcTo hR="203200" wR="203200" stAng="5400000" swAng="5400000"/>
                <a:lnTo>
                  <a:pt x="0" y="203200"/>
                </a:lnTo>
                <a:arcTo hR="203200" wR="203200" stAng="10800000" swAng="5400000"/>
                <a:close/>
              </a:path>
            </a:pathLst>
          </a:custGeom>
          <a:solidFill>
            <a:srgbClr val="C4A35A"/>
          </a:solidFill>
          <a:ln/>
        </p:spPr>
        <p:txBody>
          <a:bodyPr wrap="square" lIns="0" tIns="0" rIns="0" bIns="0" rtlCol="0" anchor="t">
            <a:normAutofit/>
          </a:bodyPr>
          <a:lstStyle/>
          <a:p>
            <a:pPr algn="ctr" indent="0" marL="0">
              <a:lnSpc>
                <a:spcPts val="3200"/>
              </a:lnSpc>
              <a:buNone/>
            </a:pPr>
            <a:r>
              <a:rPr lang="en-US" sz="1600" b="1" dirty="0">
                <a:solidFill>
                  <a:srgbClr val="1B365D"/>
                </a:solidFill>
                <a:latin typeface="Arial" pitchFamily="34" charset="0"/>
                <a:ea typeface="Arial" pitchFamily="34" charset="-122"/>
                <a:cs typeface="Arial" pitchFamily="34" charset="-120"/>
              </a:rPr>
              <a:t>3</a:t>
            </a:r>
            <a:endParaRPr lang="en-US" sz="1600" dirty="0"/>
          </a:p>
        </p:txBody>
      </p:sp>
      <p:sp>
        <p:nvSpPr>
          <p:cNvPr id="16" name="Text 12"/>
          <p:cNvSpPr/>
          <p:nvPr/>
        </p:nvSpPr>
        <p:spPr>
          <a:xfrm>
            <a:off x="9105900" y="3863330"/>
            <a:ext cx="686217"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7F5F2"/>
                </a:solidFill>
                <a:latin typeface="Arial" pitchFamily="34" charset="0"/>
                <a:ea typeface="Arial" pitchFamily="34" charset="-122"/>
                <a:cs typeface="Arial" pitchFamily="34" charset="-120"/>
              </a:rPr>
              <a:t>Écart</a:t>
            </a:r>
            <a:endParaRPr lang="en-US" sz="1800" dirty="0"/>
          </a:p>
        </p:txBody>
      </p:sp>
      <p:sp>
        <p:nvSpPr>
          <p:cNvPr id="17" name="Text 13"/>
          <p:cNvSpPr/>
          <p:nvPr/>
        </p:nvSpPr>
        <p:spPr>
          <a:xfrm>
            <a:off x="8572500" y="4305300"/>
            <a:ext cx="2433066"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CE3EC"/>
                </a:solidFill>
                <a:latin typeface="Arial" pitchFamily="34" charset="0"/>
                <a:ea typeface="Arial" pitchFamily="34" charset="-122"/>
                <a:cs typeface="Arial" pitchFamily="34" charset="-120"/>
              </a:rPr>
              <a:t>Marché ÷ règle : qui est payé au-dessus ou en dessous ?</a:t>
            </a:r>
            <a:endParaRPr lang="en-US" sz="1300" dirty="0"/>
          </a:p>
        </p:txBody>
      </p:sp>
      <p:sp>
        <p:nvSpPr>
          <p:cNvPr id="18" name="Text 14"/>
          <p:cNvSpPr/>
          <p:nvPr/>
        </p:nvSpPr>
        <p:spPr>
          <a:xfrm>
            <a:off x="812800" y="54610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B365D"/>
                </a:solidFill>
                <a:latin typeface="Arial" pitchFamily="34" charset="0"/>
                <a:ea typeface="Arial" pitchFamily="34" charset="-122"/>
                <a:cs typeface="Arial" pitchFamily="34" charset="-120"/>
              </a:rPr>
              <a:t>Enjeu :</a:t>
            </a:r>
            <a:r>
              <a:rPr lang="en-US" sz="1400" dirty="0">
                <a:solidFill>
                  <a:srgbClr val="3A4A5E"/>
                </a:solidFill>
                <a:latin typeface="Arial" pitchFamily="34" charset="0"/>
                <a:ea typeface="Arial" pitchFamily="34" charset="-122"/>
                <a:cs typeface="Arial" pitchFamily="34" charset="-120"/>
              </a:rPr>
              <a:t> donner à un club qui recrute un prix de référence pour négocier.</a:t>
            </a:r>
            <a:endParaRPr lang="en-US" sz="1400" dirty="0"/>
          </a:p>
        </p:txBody>
      </p:sp>
      <p:sp>
        <p:nvSpPr>
          <p:cNvPr id="19" name="Text 15"/>
          <p:cNvSpPr/>
          <p:nvPr/>
        </p:nvSpPr>
        <p:spPr>
          <a:xfrm>
            <a:off x="812800" y="6243340"/>
            <a:ext cx="32396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Valorisation des joueurs · Big 5 2025-26</a:t>
            </a:r>
            <a:endParaRPr lang="en-US" sz="1200" dirty="0"/>
          </a:p>
        </p:txBody>
      </p:sp>
      <p:sp>
        <p:nvSpPr>
          <p:cNvPr id="20" name="Text 16"/>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8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DONNÉES ET PIPELINE</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Quatre sources, un jeu de données propre</a:t>
            </a:r>
            <a:endParaRPr lang="en-US" sz="2800" dirty="0"/>
          </a:p>
        </p:txBody>
      </p:sp>
      <p:sp>
        <p:nvSpPr>
          <p:cNvPr id="4" name="Shape 2"/>
          <p:cNvSpPr/>
          <p:nvPr/>
        </p:nvSpPr>
        <p:spPr>
          <a:xfrm>
            <a:off x="812800" y="1905000"/>
            <a:ext cx="6858000" cy="3860800"/>
          </a:xfrm>
          <a:prstGeom prst="roundRect">
            <a:avLst>
              <a:gd name="adj" fmla="val 3947"/>
            </a:avLst>
          </a:prstGeom>
          <a:solidFill>
            <a:srgbClr val="FFFCF7"/>
          </a:solidFill>
          <a:ln/>
        </p:spPr>
      </p:sp>
      <p:pic>
        <p:nvPicPr>
          <p:cNvPr id="5" name="Image 0" descr="Schéma du pipeline de collecte : SalarySport, collecte automatisée, nettoyage, filtrage Top 5, jeu de données final">    </p:cNvPr>
          <p:cNvPicPr>
            <a:picLocks noChangeAspect="1"/>
          </p:cNvPicPr>
          <p:nvPr/>
        </p:nvPicPr>
        <p:blipFill>
          <a:blip r:embed="rId1"/>
          <a:srcRect l="-130" r="-130" t="0" b="0"/>
          <a:stretch/>
        </p:blipFill>
        <p:spPr>
          <a:xfrm>
            <a:off x="825500" y="1917700"/>
            <a:ext cx="6832600" cy="3835400"/>
          </a:xfrm>
          <a:prstGeom prst="roundRect">
            <a:avLst>
              <a:gd name="adj" fmla="val 3642"/>
            </a:avLst>
          </a:prstGeom>
        </p:spPr>
      </p:pic>
      <p:sp>
        <p:nvSpPr>
          <p:cNvPr id="6" name="Shape 3"/>
          <p:cNvSpPr/>
          <p:nvPr/>
        </p:nvSpPr>
        <p:spPr>
          <a:xfrm>
            <a:off x="819150" y="1911350"/>
            <a:ext cx="6845300" cy="3848100"/>
          </a:xfrm>
          <a:prstGeom prst="roundRect">
            <a:avLst>
              <a:gd name="adj" fmla="val 3795"/>
            </a:avLst>
          </a:prstGeom>
          <a:noFill/>
          <a:ln w="12700">
            <a:solidFill>
              <a:srgbClr val="D4C4A8"/>
            </a:solidFill>
            <a:prstDash val="solid"/>
          </a:ln>
        </p:spPr>
      </p:sp>
      <p:sp>
        <p:nvSpPr>
          <p:cNvPr id="7" name="Shape 4"/>
          <p:cNvSpPr/>
          <p:nvPr/>
        </p:nvSpPr>
        <p:spPr>
          <a:xfrm>
            <a:off x="7924800" y="1905000"/>
            <a:ext cx="3454400" cy="934641"/>
          </a:xfrm>
          <a:prstGeom prst="roundRect">
            <a:avLst>
              <a:gd name="adj" fmla="val 13588"/>
            </a:avLst>
          </a:prstGeom>
          <a:solidFill>
            <a:srgbClr val="1B365D"/>
          </a:solidFill>
          <a:ln/>
        </p:spPr>
      </p:sp>
      <p:sp>
        <p:nvSpPr>
          <p:cNvPr id="8" name="Text 5"/>
          <p:cNvSpPr/>
          <p:nvPr/>
        </p:nvSpPr>
        <p:spPr>
          <a:xfrm>
            <a:off x="8128000" y="2057400"/>
            <a:ext cx="313944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5F2"/>
                </a:solidFill>
                <a:latin typeface="Arial" pitchFamily="34" charset="0"/>
                <a:ea typeface="Arial" pitchFamily="34" charset="-122"/>
                <a:cs typeface="Arial" pitchFamily="34" charset="-120"/>
              </a:rPr>
              <a:t>3 730</a:t>
            </a:r>
            <a:endParaRPr lang="en-US" sz="2200" dirty="0"/>
          </a:p>
        </p:txBody>
      </p:sp>
      <p:sp>
        <p:nvSpPr>
          <p:cNvPr id="9" name="Text 6"/>
          <p:cNvSpPr/>
          <p:nvPr/>
        </p:nvSpPr>
        <p:spPr>
          <a:xfrm>
            <a:off x="8128000" y="2473920"/>
            <a:ext cx="31394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C"/>
                </a:solidFill>
                <a:latin typeface="Arial" pitchFamily="34" charset="0"/>
                <a:ea typeface="Arial" pitchFamily="34" charset="-122"/>
                <a:cs typeface="Arial" pitchFamily="34" charset="-120"/>
              </a:rPr>
              <a:t>joueurs FBref, 8 championnats</a:t>
            </a:r>
            <a:endParaRPr lang="en-US" sz="1200" dirty="0"/>
          </a:p>
        </p:txBody>
      </p:sp>
      <p:pic>
        <p:nvPicPr>
          <p:cNvPr id="10" name="Image 1" descr="arrow-down">    </p:cNvPr>
          <p:cNvPicPr>
            <a:picLocks noChangeAspect="1"/>
          </p:cNvPicPr>
          <p:nvPr/>
        </p:nvPicPr>
        <p:blipFill>
          <a:blip r:embed="rId2"/>
          <a:srcRect l="0" r="0" t="0" b="0"/>
          <a:stretch/>
        </p:blipFill>
        <p:spPr>
          <a:xfrm>
            <a:off x="9525000" y="2844800"/>
            <a:ext cx="254000" cy="254000"/>
          </a:xfrm>
          <a:prstGeom prst="rect">
            <a:avLst/>
          </a:prstGeom>
        </p:spPr>
      </p:pic>
      <p:sp>
        <p:nvSpPr>
          <p:cNvPr id="11" name="Shape 7"/>
          <p:cNvSpPr/>
          <p:nvPr/>
        </p:nvSpPr>
        <p:spPr>
          <a:xfrm>
            <a:off x="8229600" y="3149600"/>
            <a:ext cx="2844800" cy="934641"/>
          </a:xfrm>
          <a:prstGeom prst="roundRect">
            <a:avLst>
              <a:gd name="adj" fmla="val 13588"/>
            </a:avLst>
          </a:prstGeom>
          <a:solidFill>
            <a:srgbClr val="3D5A80"/>
          </a:solidFill>
          <a:ln/>
        </p:spPr>
      </p:sp>
      <p:sp>
        <p:nvSpPr>
          <p:cNvPr id="12" name="Text 8"/>
          <p:cNvSpPr/>
          <p:nvPr/>
        </p:nvSpPr>
        <p:spPr>
          <a:xfrm>
            <a:off x="8432800" y="3302000"/>
            <a:ext cx="251155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7F5F2"/>
                </a:solidFill>
                <a:latin typeface="Arial" pitchFamily="34" charset="0"/>
                <a:ea typeface="Arial" pitchFamily="34" charset="-122"/>
                <a:cs typeface="Arial" pitchFamily="34" charset="-120"/>
              </a:rPr>
              <a:t>1 422</a:t>
            </a:r>
            <a:endParaRPr lang="en-US" sz="2200" dirty="0"/>
          </a:p>
        </p:txBody>
      </p:sp>
      <p:sp>
        <p:nvSpPr>
          <p:cNvPr id="13" name="Text 9"/>
          <p:cNvSpPr/>
          <p:nvPr/>
        </p:nvSpPr>
        <p:spPr>
          <a:xfrm>
            <a:off x="8432800" y="3718520"/>
            <a:ext cx="25115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AF1"/>
                </a:solidFill>
                <a:latin typeface="Arial" pitchFamily="34" charset="0"/>
                <a:ea typeface="Arial" pitchFamily="34" charset="-122"/>
                <a:cs typeface="Arial" pitchFamily="34" charset="-120"/>
              </a:rPr>
              <a:t>Big 5 · 900 minutes et plus</a:t>
            </a:r>
            <a:endParaRPr lang="en-US" sz="1200" dirty="0"/>
          </a:p>
        </p:txBody>
      </p:sp>
      <p:pic>
        <p:nvPicPr>
          <p:cNvPr id="14" name="Image 2" descr="arrow-down">    </p:cNvPr>
          <p:cNvPicPr>
            <a:picLocks noChangeAspect="1"/>
          </p:cNvPicPr>
          <p:nvPr/>
        </p:nvPicPr>
        <p:blipFill>
          <a:blip r:embed="rId3"/>
          <a:srcRect l="0" r="0" t="0" b="0"/>
          <a:stretch/>
        </p:blipFill>
        <p:spPr>
          <a:xfrm>
            <a:off x="9525000" y="4089400"/>
            <a:ext cx="254000" cy="254000"/>
          </a:xfrm>
          <a:prstGeom prst="rect">
            <a:avLst/>
          </a:prstGeom>
        </p:spPr>
      </p:pic>
      <p:sp>
        <p:nvSpPr>
          <p:cNvPr id="15" name="Shape 10"/>
          <p:cNvSpPr/>
          <p:nvPr/>
        </p:nvSpPr>
        <p:spPr>
          <a:xfrm>
            <a:off x="8534400" y="4394200"/>
            <a:ext cx="2235200" cy="934641"/>
          </a:xfrm>
          <a:prstGeom prst="roundRect">
            <a:avLst>
              <a:gd name="adj" fmla="val 13588"/>
            </a:avLst>
          </a:prstGeom>
          <a:solidFill>
            <a:srgbClr val="C4A35A"/>
          </a:solidFill>
          <a:ln/>
        </p:spPr>
      </p:sp>
      <p:sp>
        <p:nvSpPr>
          <p:cNvPr id="16" name="Text 11"/>
          <p:cNvSpPr/>
          <p:nvPr/>
        </p:nvSpPr>
        <p:spPr>
          <a:xfrm>
            <a:off x="8737600" y="4546600"/>
            <a:ext cx="188366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B365D"/>
                </a:solidFill>
                <a:latin typeface="Arial" pitchFamily="34" charset="0"/>
                <a:ea typeface="Arial" pitchFamily="34" charset="-122"/>
                <a:cs typeface="Arial" pitchFamily="34" charset="-120"/>
              </a:rPr>
              <a:t>1 160</a:t>
            </a:r>
            <a:endParaRPr lang="en-US" sz="2200" dirty="0"/>
          </a:p>
        </p:txBody>
      </p:sp>
      <p:sp>
        <p:nvSpPr>
          <p:cNvPr id="17" name="Text 12"/>
          <p:cNvSpPr/>
          <p:nvPr/>
        </p:nvSpPr>
        <p:spPr>
          <a:xfrm>
            <a:off x="8737600" y="4963120"/>
            <a:ext cx="18836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365D"/>
                </a:solidFill>
                <a:latin typeface="Arial" pitchFamily="34" charset="0"/>
                <a:ea typeface="Arial" pitchFamily="34" charset="-122"/>
                <a:cs typeface="Arial" pitchFamily="34" charset="-120"/>
              </a:rPr>
              <a:t>avec cote Transfermarkt</a:t>
            </a:r>
            <a:endParaRPr lang="en-US" sz="1200" dirty="0"/>
          </a:p>
        </p:txBody>
      </p:sp>
      <p:sp>
        <p:nvSpPr>
          <p:cNvPr id="18" name="Text 13"/>
          <p:cNvSpPr/>
          <p:nvPr/>
        </p:nvSpPr>
        <p:spPr>
          <a:xfrm>
            <a:off x="7924800" y="5410200"/>
            <a:ext cx="355803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E"/>
                </a:solidFill>
                <a:latin typeface="Arial" pitchFamily="34" charset="0"/>
                <a:ea typeface="Arial" pitchFamily="34" charset="-122"/>
                <a:cs typeface="Arial" pitchFamily="34" charset="-120"/>
              </a:rPr>
              <a:t>+ SalarySport (scraping) · panel Instagram de 100 joueurs</a:t>
            </a:r>
            <a:endParaRPr lang="en-US" sz="1200" dirty="0"/>
          </a:p>
        </p:txBody>
      </p:sp>
      <p:sp>
        <p:nvSpPr>
          <p:cNvPr id="19" name="Text 14"/>
          <p:cNvSpPr/>
          <p:nvPr/>
        </p:nvSpPr>
        <p:spPr>
          <a:xfrm>
            <a:off x="812800" y="6243340"/>
            <a:ext cx="636293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Sources : FBref, Transfermarkt, SalarySport, Instagram (relevé du 15/09/2026)</a:t>
            </a:r>
            <a:endParaRPr lang="en-US" sz="1200" dirty="0"/>
          </a:p>
        </p:txBody>
      </p:sp>
      <p:sp>
        <p:nvSpPr>
          <p:cNvPr id="20" name="Text 15"/>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PRÉPARATION ET WEB SCRAPING</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Nettoyer, joindre, comparer à 90 minutes</a:t>
            </a:r>
            <a:endParaRPr lang="en-US" sz="2800" dirty="0"/>
          </a:p>
        </p:txBody>
      </p:sp>
      <p:sp>
        <p:nvSpPr>
          <p:cNvPr id="4" name="Shape 2"/>
          <p:cNvSpPr/>
          <p:nvPr/>
        </p:nvSpPr>
        <p:spPr>
          <a:xfrm>
            <a:off x="819150" y="1911350"/>
            <a:ext cx="4813300" cy="734020"/>
          </a:xfrm>
          <a:prstGeom prst="roundRect">
            <a:avLst>
              <a:gd name="adj" fmla="val 16437"/>
            </a:avLst>
          </a:prstGeom>
          <a:solidFill>
            <a:srgbClr val="FFFCF7"/>
          </a:solidFill>
          <a:ln w="12700">
            <a:solidFill>
              <a:srgbClr val="D4C4A8"/>
            </a:solidFill>
            <a:prstDash val="solid"/>
          </a:ln>
        </p:spPr>
      </p:sp>
      <p:sp>
        <p:nvSpPr>
          <p:cNvPr id="5" name="Text 3"/>
          <p:cNvSpPr/>
          <p:nvPr/>
        </p:nvSpPr>
        <p:spPr>
          <a:xfrm>
            <a:off x="1003300" y="210056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B365D"/>
          </a:solidFill>
          <a:ln/>
        </p:spPr>
        <p:txBody>
          <a:bodyPr wrap="square" lIns="0" tIns="0" rIns="0" bIns="0" rtlCol="0" anchor="t">
            <a:normAutofit/>
          </a:bodyPr>
          <a:lstStyle/>
          <a:p>
            <a:pPr algn="ctr" indent="0" marL="0">
              <a:lnSpc>
                <a:spcPts val="2800"/>
              </a:lnSpc>
              <a:buNone/>
            </a:pPr>
            <a:r>
              <a:rPr lang="en-US" sz="1400" b="1" dirty="0">
                <a:solidFill>
                  <a:srgbClr val="F7F5F2"/>
                </a:solidFill>
                <a:latin typeface="Arial" pitchFamily="34" charset="0"/>
                <a:ea typeface="Arial" pitchFamily="34" charset="-122"/>
                <a:cs typeface="Arial" pitchFamily="34" charset="-120"/>
              </a:rPr>
              <a:t>1</a:t>
            </a:r>
            <a:endParaRPr lang="en-US" sz="1400" dirty="0"/>
          </a:p>
        </p:txBody>
      </p:sp>
      <p:sp>
        <p:nvSpPr>
          <p:cNvPr id="6" name="Text 4"/>
          <p:cNvSpPr/>
          <p:nvPr/>
        </p:nvSpPr>
        <p:spPr>
          <a:xfrm>
            <a:off x="1511300" y="2044700"/>
            <a:ext cx="40551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365D"/>
                </a:solidFill>
                <a:latin typeface="Arial" pitchFamily="34" charset="0"/>
                <a:ea typeface="Arial" pitchFamily="34" charset="-122"/>
                <a:cs typeface="Arial" pitchFamily="34" charset="-120"/>
              </a:rPr>
              <a:t>Filtrer</a:t>
            </a:r>
            <a:endParaRPr lang="en-US" sz="1500" dirty="0"/>
          </a:p>
        </p:txBody>
      </p:sp>
      <p:sp>
        <p:nvSpPr>
          <p:cNvPr id="7" name="Text 5"/>
          <p:cNvSpPr/>
          <p:nvPr/>
        </p:nvSpPr>
        <p:spPr>
          <a:xfrm>
            <a:off x="1511300" y="2298700"/>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Big 5, 900 minutes et plus, poste connu</a:t>
            </a:r>
            <a:endParaRPr lang="en-US" sz="1200" dirty="0"/>
          </a:p>
        </p:txBody>
      </p:sp>
      <p:sp>
        <p:nvSpPr>
          <p:cNvPr id="8" name="Shape 6"/>
          <p:cNvSpPr/>
          <p:nvPr/>
        </p:nvSpPr>
        <p:spPr>
          <a:xfrm>
            <a:off x="819150" y="2785070"/>
            <a:ext cx="4813300" cy="734020"/>
          </a:xfrm>
          <a:prstGeom prst="roundRect">
            <a:avLst>
              <a:gd name="adj" fmla="val 16437"/>
            </a:avLst>
          </a:prstGeom>
          <a:solidFill>
            <a:srgbClr val="FFFCF7"/>
          </a:solidFill>
          <a:ln w="12700">
            <a:solidFill>
              <a:srgbClr val="D4C4A8"/>
            </a:solidFill>
            <a:prstDash val="solid"/>
          </a:ln>
        </p:spPr>
      </p:sp>
      <p:sp>
        <p:nvSpPr>
          <p:cNvPr id="9" name="Text 7"/>
          <p:cNvSpPr/>
          <p:nvPr/>
        </p:nvSpPr>
        <p:spPr>
          <a:xfrm>
            <a:off x="1003300" y="2974280"/>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B365D"/>
          </a:solidFill>
          <a:ln/>
        </p:spPr>
        <p:txBody>
          <a:bodyPr wrap="square" lIns="0" tIns="0" rIns="0" bIns="0" rtlCol="0" anchor="t">
            <a:normAutofit/>
          </a:bodyPr>
          <a:lstStyle/>
          <a:p>
            <a:pPr algn="ctr" indent="0" marL="0">
              <a:lnSpc>
                <a:spcPts val="2800"/>
              </a:lnSpc>
              <a:buNone/>
            </a:pPr>
            <a:r>
              <a:rPr lang="en-US" sz="1400" b="1" dirty="0">
                <a:solidFill>
                  <a:srgbClr val="F7F5F2"/>
                </a:solidFill>
                <a:latin typeface="Arial" pitchFamily="34" charset="0"/>
                <a:ea typeface="Arial" pitchFamily="34" charset="-122"/>
                <a:cs typeface="Arial" pitchFamily="34" charset="-120"/>
              </a:rPr>
              <a:t>2</a:t>
            </a:r>
            <a:endParaRPr lang="en-US" sz="1400" dirty="0"/>
          </a:p>
        </p:txBody>
      </p:sp>
      <p:sp>
        <p:nvSpPr>
          <p:cNvPr id="10" name="Text 8"/>
          <p:cNvSpPr/>
          <p:nvPr/>
        </p:nvSpPr>
        <p:spPr>
          <a:xfrm>
            <a:off x="1511300" y="2918420"/>
            <a:ext cx="40551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365D"/>
                </a:solidFill>
                <a:latin typeface="Arial" pitchFamily="34" charset="0"/>
                <a:ea typeface="Arial" pitchFamily="34" charset="-122"/>
                <a:cs typeface="Arial" pitchFamily="34" charset="-120"/>
              </a:rPr>
              <a:t>Joindre</a:t>
            </a:r>
            <a:endParaRPr lang="en-US" sz="1500" dirty="0"/>
          </a:p>
        </p:txBody>
      </p:sp>
      <p:sp>
        <p:nvSpPr>
          <p:cNvPr id="11" name="Text 9"/>
          <p:cNvSpPr/>
          <p:nvPr/>
        </p:nvSpPr>
        <p:spPr>
          <a:xfrm>
            <a:off x="1511300" y="3172420"/>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Nom + ligue + poste, accents normalisés : 82 %</a:t>
            </a:r>
            <a:endParaRPr lang="en-US" sz="1200" dirty="0"/>
          </a:p>
        </p:txBody>
      </p:sp>
      <p:sp>
        <p:nvSpPr>
          <p:cNvPr id="12" name="Shape 10"/>
          <p:cNvSpPr/>
          <p:nvPr/>
        </p:nvSpPr>
        <p:spPr>
          <a:xfrm>
            <a:off x="819150" y="3658791"/>
            <a:ext cx="4813300" cy="734020"/>
          </a:xfrm>
          <a:prstGeom prst="roundRect">
            <a:avLst>
              <a:gd name="adj" fmla="val 16437"/>
            </a:avLst>
          </a:prstGeom>
          <a:solidFill>
            <a:srgbClr val="FFFCF7"/>
          </a:solidFill>
          <a:ln w="12700">
            <a:solidFill>
              <a:srgbClr val="D4C4A8"/>
            </a:solidFill>
            <a:prstDash val="solid"/>
          </a:ln>
        </p:spPr>
      </p:sp>
      <p:sp>
        <p:nvSpPr>
          <p:cNvPr id="13" name="Text 11"/>
          <p:cNvSpPr/>
          <p:nvPr/>
        </p:nvSpPr>
        <p:spPr>
          <a:xfrm>
            <a:off x="1003300" y="384800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1B365D"/>
          </a:solidFill>
          <a:ln/>
        </p:spPr>
        <p:txBody>
          <a:bodyPr wrap="square" lIns="0" tIns="0" rIns="0" bIns="0" rtlCol="0" anchor="t">
            <a:normAutofit/>
          </a:bodyPr>
          <a:lstStyle/>
          <a:p>
            <a:pPr algn="ctr" indent="0" marL="0">
              <a:lnSpc>
                <a:spcPts val="2800"/>
              </a:lnSpc>
              <a:buNone/>
            </a:pPr>
            <a:r>
              <a:rPr lang="en-US" sz="1400" b="1" dirty="0">
                <a:solidFill>
                  <a:srgbClr val="F7F5F2"/>
                </a:solidFill>
                <a:latin typeface="Arial" pitchFamily="34" charset="0"/>
                <a:ea typeface="Arial" pitchFamily="34" charset="-122"/>
                <a:cs typeface="Arial" pitchFamily="34" charset="-120"/>
              </a:rPr>
              <a:t>3</a:t>
            </a:r>
            <a:endParaRPr lang="en-US" sz="1400" dirty="0"/>
          </a:p>
        </p:txBody>
      </p:sp>
      <p:sp>
        <p:nvSpPr>
          <p:cNvPr id="14" name="Text 12"/>
          <p:cNvSpPr/>
          <p:nvPr/>
        </p:nvSpPr>
        <p:spPr>
          <a:xfrm>
            <a:off x="1511300" y="3792141"/>
            <a:ext cx="40551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365D"/>
                </a:solidFill>
                <a:latin typeface="Arial" pitchFamily="34" charset="0"/>
                <a:ea typeface="Arial" pitchFamily="34" charset="-122"/>
                <a:cs typeface="Arial" pitchFamily="34" charset="-120"/>
              </a:rPr>
              <a:t>Normaliser</a:t>
            </a:r>
            <a:endParaRPr lang="en-US" sz="1500" dirty="0"/>
          </a:p>
        </p:txBody>
      </p:sp>
      <p:sp>
        <p:nvSpPr>
          <p:cNvPr id="15" name="Text 13"/>
          <p:cNvSpPr/>
          <p:nvPr/>
        </p:nvSpPr>
        <p:spPr>
          <a:xfrm>
            <a:off x="1511300" y="4046141"/>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Stats par 90 minutes, âge au 30/06/2026</a:t>
            </a:r>
            <a:endParaRPr lang="en-US" sz="1200" dirty="0"/>
          </a:p>
        </p:txBody>
      </p:sp>
      <p:sp>
        <p:nvSpPr>
          <p:cNvPr id="16" name="Shape 14"/>
          <p:cNvSpPr/>
          <p:nvPr/>
        </p:nvSpPr>
        <p:spPr>
          <a:xfrm>
            <a:off x="819150" y="4532511"/>
            <a:ext cx="4813300" cy="734020"/>
          </a:xfrm>
          <a:prstGeom prst="roundRect">
            <a:avLst>
              <a:gd name="adj" fmla="val 16437"/>
            </a:avLst>
          </a:prstGeom>
          <a:solidFill>
            <a:srgbClr val="FFFCF7"/>
          </a:solidFill>
          <a:ln w="12700">
            <a:solidFill>
              <a:srgbClr val="D4C4A8"/>
            </a:solidFill>
            <a:prstDash val="solid"/>
          </a:ln>
        </p:spPr>
      </p:sp>
      <p:sp>
        <p:nvSpPr>
          <p:cNvPr id="17" name="Text 15"/>
          <p:cNvSpPr/>
          <p:nvPr/>
        </p:nvSpPr>
        <p:spPr>
          <a:xfrm>
            <a:off x="1003300" y="472172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C4A35A"/>
          </a:solidFill>
          <a:ln/>
        </p:spPr>
        <p:txBody>
          <a:bodyPr wrap="square" lIns="0" tIns="0" rIns="0" bIns="0" rtlCol="0" anchor="t">
            <a:normAutofit/>
          </a:bodyPr>
          <a:lstStyle/>
          <a:p>
            <a:pPr algn="ctr" indent="0" marL="0">
              <a:lnSpc>
                <a:spcPts val="2800"/>
              </a:lnSpc>
              <a:buNone/>
            </a:pPr>
            <a:r>
              <a:rPr lang="en-US" sz="1400" b="1" dirty="0">
                <a:solidFill>
                  <a:srgbClr val="1B365D"/>
                </a:solidFill>
                <a:latin typeface="Arial" pitchFamily="34" charset="0"/>
                <a:ea typeface="Arial" pitchFamily="34" charset="-122"/>
                <a:cs typeface="Arial" pitchFamily="34" charset="-120"/>
              </a:rPr>
              <a:t>4</a:t>
            </a:r>
            <a:endParaRPr lang="en-US" sz="1400" dirty="0"/>
          </a:p>
        </p:txBody>
      </p:sp>
      <p:sp>
        <p:nvSpPr>
          <p:cNvPr id="18" name="Text 16"/>
          <p:cNvSpPr/>
          <p:nvPr/>
        </p:nvSpPr>
        <p:spPr>
          <a:xfrm>
            <a:off x="1511300" y="4665861"/>
            <a:ext cx="40551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B365D"/>
                </a:solidFill>
                <a:latin typeface="Arial" pitchFamily="34" charset="0"/>
                <a:ea typeface="Arial" pitchFamily="34" charset="-122"/>
                <a:cs typeface="Arial" pitchFamily="34" charset="-120"/>
              </a:rPr>
              <a:t>Transformer</a:t>
            </a:r>
            <a:endParaRPr lang="en-US" sz="1500" dirty="0"/>
          </a:p>
        </p:txBody>
      </p:sp>
      <p:sp>
        <p:nvSpPr>
          <p:cNvPr id="19" name="Text 17"/>
          <p:cNvSpPr/>
          <p:nvPr/>
        </p:nvSpPr>
        <p:spPr>
          <a:xfrm>
            <a:off x="1511300" y="4919861"/>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Cote en log, écart = marché ÷ règle</a:t>
            </a:r>
            <a:endParaRPr lang="en-US" sz="1200" dirty="0"/>
          </a:p>
        </p:txBody>
      </p:sp>
      <p:sp>
        <p:nvSpPr>
          <p:cNvPr id="20" name="Shape 18"/>
          <p:cNvSpPr/>
          <p:nvPr/>
        </p:nvSpPr>
        <p:spPr>
          <a:xfrm>
            <a:off x="5994400" y="1905000"/>
            <a:ext cx="5384800" cy="2694583"/>
          </a:xfrm>
          <a:prstGeom prst="roundRect">
            <a:avLst>
              <a:gd name="adj" fmla="val 5656"/>
            </a:avLst>
          </a:prstGeom>
          <a:solidFill>
            <a:srgbClr val="14263F"/>
          </a:solidFill>
          <a:ln/>
          <a:effectLst>
            <a:outerShdw sx="100000" sy="100000" kx="0" ky="0" algn="bl" rotWithShape="0" blurRad="203200" dist="76200" dir="5400000">
              <a:srgbClr val="14263F">
                <a:alpha val="25000"/>
              </a:srgbClr>
            </a:outerShdw>
          </a:effectLst>
        </p:spPr>
      </p:sp>
      <p:sp>
        <p:nvSpPr>
          <p:cNvPr id="21" name="Shape 19"/>
          <p:cNvSpPr/>
          <p:nvPr/>
        </p:nvSpPr>
        <p:spPr>
          <a:xfrm>
            <a:off x="5994400" y="1905000"/>
            <a:ext cx="5384800" cy="416520"/>
          </a:xfrm>
          <a:custGeom>
            <a:avLst/>
            <a:gdLst/>
            <a:ahLst/>
            <a:cxnLst/>
            <a:rect l="l" t="t" r="r" b="b"/>
            <a:pathLst>
              <a:path w="5384800" h="416520">
                <a:moveTo>
                  <a:pt x="0" y="152400"/>
                </a:moveTo>
                <a:arcTo hR="152400" wR="152400" stAng="10800000" swAng="5400000"/>
                <a:lnTo>
                  <a:pt x="5232400" y="0"/>
                </a:lnTo>
                <a:arcTo hR="152400" wR="152400" stAng="16200000" swAng="5400000"/>
                <a:lnTo>
                  <a:pt x="5384800" y="416520"/>
                </a:lnTo>
                <a:lnTo>
                  <a:pt x="0" y="416520"/>
                </a:lnTo>
                <a:close/>
              </a:path>
            </a:pathLst>
          </a:custGeom>
          <a:solidFill>
            <a:srgbClr val="1B365D"/>
          </a:solidFill>
          <a:ln/>
        </p:spPr>
      </p:sp>
      <p:sp>
        <p:nvSpPr>
          <p:cNvPr id="22" name="Shape 20"/>
          <p:cNvSpPr/>
          <p:nvPr/>
        </p:nvSpPr>
        <p:spPr>
          <a:xfrm>
            <a:off x="6146800" y="2062460"/>
            <a:ext cx="101600" cy="101600"/>
          </a:xfrm>
          <a:prstGeom prst="roundRect">
            <a:avLst>
              <a:gd name="adj" fmla="val 50000"/>
            </a:avLst>
          </a:prstGeom>
          <a:solidFill>
            <a:srgbClr val="C45C26"/>
          </a:solidFill>
          <a:ln/>
        </p:spPr>
      </p:sp>
      <p:sp>
        <p:nvSpPr>
          <p:cNvPr id="23" name="Shape 21"/>
          <p:cNvSpPr/>
          <p:nvPr/>
        </p:nvSpPr>
        <p:spPr>
          <a:xfrm>
            <a:off x="6324600" y="2062460"/>
            <a:ext cx="101600" cy="101600"/>
          </a:xfrm>
          <a:prstGeom prst="roundRect">
            <a:avLst>
              <a:gd name="adj" fmla="val 50000"/>
            </a:avLst>
          </a:prstGeom>
          <a:solidFill>
            <a:srgbClr val="C4A35A"/>
          </a:solidFill>
          <a:ln/>
        </p:spPr>
      </p:sp>
      <p:sp>
        <p:nvSpPr>
          <p:cNvPr id="24" name="Shape 22"/>
          <p:cNvSpPr/>
          <p:nvPr/>
        </p:nvSpPr>
        <p:spPr>
          <a:xfrm>
            <a:off x="6502400" y="2062460"/>
            <a:ext cx="101600" cy="101600"/>
          </a:xfrm>
          <a:prstGeom prst="roundRect">
            <a:avLst>
              <a:gd name="adj" fmla="val 50000"/>
            </a:avLst>
          </a:prstGeom>
          <a:solidFill>
            <a:srgbClr val="3D6B5A"/>
          </a:solidFill>
          <a:ln/>
        </p:spPr>
      </p:sp>
      <p:sp>
        <p:nvSpPr>
          <p:cNvPr id="25" name="Text 23"/>
          <p:cNvSpPr/>
          <p:nvPr/>
        </p:nvSpPr>
        <p:spPr>
          <a:xfrm>
            <a:off x="6680200" y="2006600"/>
            <a:ext cx="264693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3EC"/>
                </a:solidFill>
                <a:latin typeface="Arial" pitchFamily="34" charset="0"/>
                <a:ea typeface="Arial" pitchFamily="34" charset="-122"/>
                <a:cs typeface="Arial" pitchFamily="34" charset="-120"/>
              </a:rPr>
              <a:t>requests + BeautifulSoup · log</a:t>
            </a:r>
            <a:endParaRPr lang="en-US" sz="1200" dirty="0"/>
          </a:p>
        </p:txBody>
      </p:sp>
      <p:sp>
        <p:nvSpPr>
          <p:cNvPr id="26" name="Text 24"/>
          <p:cNvSpPr/>
          <p:nvPr/>
        </p:nvSpPr>
        <p:spPr>
          <a:xfrm>
            <a:off x="6172200" y="2473920"/>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ourier New" pitchFamily="49" charset="0"/>
                <a:ea typeface="Courier New" pitchFamily="49" charset="-122"/>
                <a:cs typeface="Courier New" pitchFamily="49" charset="-120"/>
              </a:rPr>
              <a:t>GET …/contracts-expiring-2026/</a:t>
            </a:r>
            <a:endParaRPr lang="en-US" sz="1200" dirty="0"/>
          </a:p>
        </p:txBody>
      </p:sp>
      <p:sp>
        <p:nvSpPr>
          <p:cNvPr id="27" name="Text 25"/>
          <p:cNvSpPr/>
          <p:nvPr/>
        </p:nvSpPr>
        <p:spPr>
          <a:xfrm>
            <a:off x="6172200" y="2725341"/>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D3A8"/>
                </a:solidFill>
                <a:latin typeface="Courier New" pitchFamily="49" charset="0"/>
                <a:ea typeface="Courier New" pitchFamily="49" charset="-122"/>
                <a:cs typeface="Courier New" pitchFamily="49" charset="-120"/>
              </a:rPr>
              <a:t>HTTP 200 · 1 748 lignes lues</a:t>
            </a:r>
            <a:endParaRPr lang="en-US" sz="1200" dirty="0"/>
          </a:p>
        </p:txBody>
      </p:sp>
      <p:sp>
        <p:nvSpPr>
          <p:cNvPr id="28" name="Text 26"/>
          <p:cNvSpPr/>
          <p:nvPr/>
        </p:nvSpPr>
        <p:spPr>
          <a:xfrm>
            <a:off x="6172200" y="2976761"/>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ourier New" pitchFamily="49" charset="0"/>
                <a:ea typeface="Courier New" pitchFamily="49" charset="-122"/>
                <a:cs typeface="Courier New" pitchFamily="49" charset="-120"/>
              </a:rPr>
              <a:t>… 2027 · 2028 · 2029 · 2030</a:t>
            </a:r>
            <a:endParaRPr lang="en-US" sz="1200" dirty="0"/>
          </a:p>
        </p:txBody>
      </p:sp>
      <p:sp>
        <p:nvSpPr>
          <p:cNvPr id="29" name="Text 27"/>
          <p:cNvSpPr/>
          <p:nvPr/>
        </p:nvSpPr>
        <p:spPr>
          <a:xfrm>
            <a:off x="6172200" y="3228181"/>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D3A8"/>
                </a:solidFill>
                <a:latin typeface="Courier New" pitchFamily="49" charset="0"/>
                <a:ea typeface="Courier New" pitchFamily="49" charset="-122"/>
                <a:cs typeface="Courier New" pitchFamily="49" charset="-120"/>
              </a:rPr>
              <a:t>5 pages · HTTP 200</a:t>
            </a:r>
            <a:endParaRPr lang="en-US" sz="1200" dirty="0"/>
          </a:p>
        </p:txBody>
      </p:sp>
      <p:sp>
        <p:nvSpPr>
          <p:cNvPr id="30" name="Text 28"/>
          <p:cNvSpPr/>
          <p:nvPr/>
        </p:nvSpPr>
        <p:spPr>
          <a:xfrm>
            <a:off x="6172200" y="3479602"/>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Courier New" pitchFamily="49" charset="0"/>
                <a:ea typeface="Courier New" pitchFamily="49" charset="-122"/>
                <a:cs typeface="Courier New" pitchFamily="49" charset="-120"/>
              </a:rPr>
              <a:t>6 276 lignes, toutes ligues</a:t>
            </a:r>
            <a:endParaRPr lang="en-US" sz="1200" dirty="0"/>
          </a:p>
        </p:txBody>
      </p:sp>
      <p:sp>
        <p:nvSpPr>
          <p:cNvPr id="31" name="Text 29"/>
          <p:cNvSpPr/>
          <p:nvPr/>
        </p:nvSpPr>
        <p:spPr>
          <a:xfrm>
            <a:off x="6172200" y="3731022"/>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Courier New" pitchFamily="49" charset="0"/>
                <a:ea typeface="Courier New" pitchFamily="49" charset="-122"/>
                <a:cs typeface="Courier New" pitchFamily="49" charset="-120"/>
              </a:rPr>
              <a:t>1 981 après filtre Big 5</a:t>
            </a:r>
            <a:endParaRPr lang="en-US" sz="1200" dirty="0"/>
          </a:p>
        </p:txBody>
      </p:sp>
      <p:sp>
        <p:nvSpPr>
          <p:cNvPr id="32" name="Text 30"/>
          <p:cNvSpPr/>
          <p:nvPr/>
        </p:nvSpPr>
        <p:spPr>
          <a:xfrm>
            <a:off x="6172200" y="3982442"/>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Courier New" pitchFamily="49" charset="0"/>
                <a:ea typeface="Courier New" pitchFamily="49" charset="-122"/>
                <a:cs typeface="Courier New" pitchFamily="49" charset="-120"/>
              </a:rPr>
              <a:t>salaires illisibles : 0</a:t>
            </a:r>
            <a:endParaRPr lang="en-US" sz="1200" dirty="0"/>
          </a:p>
        </p:txBody>
      </p:sp>
      <p:sp>
        <p:nvSpPr>
          <p:cNvPr id="33" name="Text 31"/>
          <p:cNvSpPr/>
          <p:nvPr/>
        </p:nvSpPr>
        <p:spPr>
          <a:xfrm>
            <a:off x="6172200" y="4233863"/>
            <a:ext cx="51800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97A"/>
                </a:solidFill>
                <a:latin typeface="Courier New" pitchFamily="49" charset="0"/>
                <a:ea typeface="Courier New" pitchFamily="49" charset="-122"/>
                <a:cs typeface="Courier New" pitchFamily="49" charset="-120"/>
              </a:rPr>
              <a:t>CSV écrit : 1 980 joueurs</a:t>
            </a:r>
            <a:endParaRPr lang="en-US" sz="1200" dirty="0"/>
          </a:p>
        </p:txBody>
      </p:sp>
      <p:sp>
        <p:nvSpPr>
          <p:cNvPr id="34" name="Text 32"/>
          <p:cNvSpPr/>
          <p:nvPr/>
        </p:nvSpPr>
        <p:spPr>
          <a:xfrm>
            <a:off x="5994400" y="5334000"/>
            <a:ext cx="5546344"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3A4A5E"/>
                </a:solidFill>
                <a:latin typeface="Arial" pitchFamily="34" charset="0"/>
                <a:ea typeface="Arial" pitchFamily="34" charset="-122"/>
                <a:cs typeface="Arial" pitchFamily="34" charset="-120"/>
              </a:rPr>
              <a:t>Pause de 2 s entre les pages, encodage UTF-8 forcé · </a:t>
            </a:r>
            <a:r>
              <a:rPr lang="en-US" sz="1200" b="1" dirty="0">
                <a:solidFill>
                  <a:srgbClr val="1B365D"/>
                </a:solidFill>
                <a:latin typeface="Arial" pitchFamily="34" charset="0"/>
                <a:ea typeface="Arial" pitchFamily="34" charset="-122"/>
                <a:cs typeface="Arial" pitchFamily="34" charset="-120"/>
              </a:rPr>
              <a:t>718 joueurs du modèle</a:t>
            </a:r>
            <a:r>
              <a:rPr lang="en-US" sz="1200" dirty="0">
                <a:solidFill>
                  <a:srgbClr val="3A4A5E"/>
                </a:solidFill>
                <a:latin typeface="Arial" pitchFamily="34" charset="0"/>
                <a:ea typeface="Arial" pitchFamily="34" charset="-122"/>
                <a:cs typeface="Arial" pitchFamily="34" charset="-120"/>
              </a:rPr>
              <a:t> avec salaire et contrat</a:t>
            </a:r>
            <a:endParaRPr lang="en-US" sz="1200" dirty="0"/>
          </a:p>
        </p:txBody>
      </p:sp>
      <p:sp>
        <p:nvSpPr>
          <p:cNvPr id="35" name="Text 33"/>
          <p:cNvSpPr/>
          <p:nvPr/>
        </p:nvSpPr>
        <p:spPr>
          <a:xfrm>
            <a:off x="812800" y="6243340"/>
            <a:ext cx="42494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Python · pandas · requests · BeautifulSoup · logging</a:t>
            </a:r>
            <a:endParaRPr lang="en-US" sz="1200" dirty="0"/>
          </a:p>
        </p:txBody>
      </p:sp>
      <p:sp>
        <p:nvSpPr>
          <p:cNvPr id="36" name="Text 34"/>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8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SQL · MYSQL 8</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Le résultat clé, retrouvé en SQL</a:t>
            </a:r>
            <a:endParaRPr lang="en-US" sz="2800" dirty="0"/>
          </a:p>
        </p:txBody>
      </p:sp>
      <p:sp>
        <p:nvSpPr>
          <p:cNvPr id="4" name="Shape 2"/>
          <p:cNvSpPr/>
          <p:nvPr/>
        </p:nvSpPr>
        <p:spPr>
          <a:xfrm>
            <a:off x="812800" y="1778000"/>
            <a:ext cx="2286000" cy="1310481"/>
          </a:xfrm>
          <a:prstGeom prst="roundRect">
            <a:avLst>
              <a:gd name="adj" fmla="val 9691"/>
            </a:avLst>
          </a:prstGeom>
          <a:solidFill>
            <a:srgbClr val="1B365D"/>
          </a:solidFill>
          <a:ln/>
        </p:spPr>
      </p:sp>
      <p:sp>
        <p:nvSpPr>
          <p:cNvPr id="5" name="Text 3"/>
          <p:cNvSpPr/>
          <p:nvPr/>
        </p:nvSpPr>
        <p:spPr>
          <a:xfrm>
            <a:off x="965200" y="1930400"/>
            <a:ext cx="2040636"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C4A35A"/>
                </a:solidFill>
                <a:latin typeface="Arial" pitchFamily="34" charset="0"/>
                <a:ea typeface="Arial" pitchFamily="34" charset="-122"/>
                <a:cs typeface="Arial" pitchFamily="34" charset="-120"/>
              </a:rPr>
              <a:t>joueurs</a:t>
            </a:r>
            <a:endParaRPr lang="en-US" sz="1400" dirty="0"/>
          </a:p>
        </p:txBody>
      </p:sp>
      <p:sp>
        <p:nvSpPr>
          <p:cNvPr id="6" name="Text 4"/>
          <p:cNvSpPr/>
          <p:nvPr/>
        </p:nvSpPr>
        <p:spPr>
          <a:xfrm>
            <a:off x="965200" y="2194520"/>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Arial" pitchFamily="34" charset="0"/>
                <a:ea typeface="Arial" pitchFamily="34" charset="-122"/>
                <a:cs typeface="Arial" pitchFamily="34" charset="-120"/>
              </a:rPr>
              <a:t>fb_id (clé)</a:t>
            </a:r>
            <a:endParaRPr lang="en-US" sz="1200" dirty="0"/>
          </a:p>
        </p:txBody>
      </p:sp>
      <p:sp>
        <p:nvSpPr>
          <p:cNvPr id="7" name="Text 5"/>
          <p:cNvSpPr/>
          <p:nvPr/>
        </p:nvSpPr>
        <p:spPr>
          <a:xfrm>
            <a:off x="965200" y="2458641"/>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C"/>
                </a:solidFill>
                <a:latin typeface="Arial" pitchFamily="34" charset="0"/>
                <a:ea typeface="Arial" pitchFamily="34" charset="-122"/>
                <a:cs typeface="Arial" pitchFamily="34" charset="-120"/>
              </a:rPr>
              <a:t>fb_league · fb_position</a:t>
            </a:r>
            <a:endParaRPr lang="en-US" sz="1200" dirty="0"/>
          </a:p>
        </p:txBody>
      </p:sp>
      <p:sp>
        <p:nvSpPr>
          <p:cNvPr id="8" name="Text 6"/>
          <p:cNvSpPr/>
          <p:nvPr/>
        </p:nvSpPr>
        <p:spPr>
          <a:xfrm>
            <a:off x="965200" y="2722761"/>
            <a:ext cx="204063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CE3EC"/>
                </a:solidFill>
                <a:latin typeface="Arial" pitchFamily="34" charset="0"/>
                <a:ea typeface="Arial" pitchFamily="34" charset="-122"/>
                <a:cs typeface="Arial" pitchFamily="34" charset="-120"/>
              </a:rPr>
              <a:t>cote · multiplicateur</a:t>
            </a:r>
            <a:endParaRPr lang="en-US" sz="1200" dirty="0"/>
          </a:p>
        </p:txBody>
      </p:sp>
      <p:sp>
        <p:nvSpPr>
          <p:cNvPr id="9" name="Shape 7"/>
          <p:cNvSpPr/>
          <p:nvPr/>
        </p:nvSpPr>
        <p:spPr>
          <a:xfrm>
            <a:off x="3486150" y="1784350"/>
            <a:ext cx="2273300" cy="1059061"/>
          </a:xfrm>
          <a:prstGeom prst="roundRect">
            <a:avLst>
              <a:gd name="adj" fmla="val 11392"/>
            </a:avLst>
          </a:prstGeom>
          <a:solidFill>
            <a:srgbClr val="FFFCF7"/>
          </a:solidFill>
          <a:ln w="12700">
            <a:solidFill>
              <a:srgbClr val="D4C4A8"/>
            </a:solidFill>
            <a:prstDash val="solid"/>
          </a:ln>
        </p:spPr>
      </p:sp>
      <p:sp>
        <p:nvSpPr>
          <p:cNvPr id="10" name="Text 8"/>
          <p:cNvSpPr/>
          <p:nvPr/>
        </p:nvSpPr>
        <p:spPr>
          <a:xfrm>
            <a:off x="3644900" y="194310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365D"/>
                </a:solidFill>
                <a:latin typeface="Arial" pitchFamily="34" charset="0"/>
                <a:ea typeface="Arial" pitchFamily="34" charset="-122"/>
                <a:cs typeface="Arial" pitchFamily="34" charset="-120"/>
              </a:rPr>
              <a:t>dim_poste</a:t>
            </a:r>
            <a:endParaRPr lang="en-US" sz="1400" dirty="0"/>
          </a:p>
        </p:txBody>
      </p:sp>
      <p:sp>
        <p:nvSpPr>
          <p:cNvPr id="11" name="Text 9"/>
          <p:cNvSpPr/>
          <p:nvPr/>
        </p:nvSpPr>
        <p:spPr>
          <a:xfrm>
            <a:off x="3644900" y="22072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code (clé)</a:t>
            </a:r>
            <a:endParaRPr lang="en-US" sz="1200" dirty="0"/>
          </a:p>
        </p:txBody>
      </p:sp>
      <p:sp>
        <p:nvSpPr>
          <p:cNvPr id="12" name="Text 10"/>
          <p:cNvSpPr/>
          <p:nvPr/>
        </p:nvSpPr>
        <p:spPr>
          <a:xfrm>
            <a:off x="3644900" y="24713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libelle</a:t>
            </a:r>
            <a:endParaRPr lang="en-US" sz="1200" dirty="0"/>
          </a:p>
        </p:txBody>
      </p:sp>
      <p:sp>
        <p:nvSpPr>
          <p:cNvPr id="13" name="Shape 11"/>
          <p:cNvSpPr/>
          <p:nvPr/>
        </p:nvSpPr>
        <p:spPr>
          <a:xfrm>
            <a:off x="819150" y="3244850"/>
            <a:ext cx="2273300" cy="1059061"/>
          </a:xfrm>
          <a:prstGeom prst="roundRect">
            <a:avLst>
              <a:gd name="adj" fmla="val 11392"/>
            </a:avLst>
          </a:prstGeom>
          <a:solidFill>
            <a:srgbClr val="FFFCF7"/>
          </a:solidFill>
          <a:ln w="12700">
            <a:solidFill>
              <a:srgbClr val="C4A35A"/>
            </a:solidFill>
            <a:prstDash val="solid"/>
          </a:ln>
        </p:spPr>
      </p:sp>
      <p:sp>
        <p:nvSpPr>
          <p:cNvPr id="14" name="Text 12"/>
          <p:cNvSpPr/>
          <p:nvPr/>
        </p:nvSpPr>
        <p:spPr>
          <a:xfrm>
            <a:off x="977900" y="340360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365D"/>
                </a:solidFill>
                <a:latin typeface="Arial" pitchFamily="34" charset="0"/>
                <a:ea typeface="Arial" pitchFamily="34" charset="-122"/>
                <a:cs typeface="Arial" pitchFamily="34" charset="-120"/>
              </a:rPr>
              <a:t>joueurs_salaire</a:t>
            </a:r>
            <a:endParaRPr lang="en-US" sz="1400" dirty="0"/>
          </a:p>
        </p:txBody>
      </p:sp>
      <p:sp>
        <p:nvSpPr>
          <p:cNvPr id="15" name="Text 13"/>
          <p:cNvSpPr/>
          <p:nvPr/>
        </p:nvSpPr>
        <p:spPr>
          <a:xfrm>
            <a:off x="977900" y="36677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fb_id</a:t>
            </a:r>
            <a:endParaRPr lang="en-US" sz="1200" dirty="0"/>
          </a:p>
        </p:txBody>
      </p:sp>
      <p:sp>
        <p:nvSpPr>
          <p:cNvPr id="16" name="Text 14"/>
          <p:cNvSpPr/>
          <p:nvPr/>
        </p:nvSpPr>
        <p:spPr>
          <a:xfrm>
            <a:off x="977900" y="39318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salaire · années contrat</a:t>
            </a:r>
            <a:endParaRPr lang="en-US" sz="1200" dirty="0"/>
          </a:p>
        </p:txBody>
      </p:sp>
      <p:sp>
        <p:nvSpPr>
          <p:cNvPr id="17" name="Shape 15"/>
          <p:cNvSpPr/>
          <p:nvPr/>
        </p:nvSpPr>
        <p:spPr>
          <a:xfrm>
            <a:off x="3486150" y="3244850"/>
            <a:ext cx="2273300" cy="1059061"/>
          </a:xfrm>
          <a:prstGeom prst="roundRect">
            <a:avLst>
              <a:gd name="adj" fmla="val 11392"/>
            </a:avLst>
          </a:prstGeom>
          <a:solidFill>
            <a:srgbClr val="FFFCF7"/>
          </a:solidFill>
          <a:ln w="12700">
            <a:solidFill>
              <a:srgbClr val="D4C4A8"/>
            </a:solidFill>
            <a:prstDash val="solid"/>
          </a:ln>
        </p:spPr>
      </p:sp>
      <p:sp>
        <p:nvSpPr>
          <p:cNvPr id="18" name="Text 16"/>
          <p:cNvSpPr/>
          <p:nvPr/>
        </p:nvSpPr>
        <p:spPr>
          <a:xfrm>
            <a:off x="3644900" y="3403600"/>
            <a:ext cx="2014474"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365D"/>
                </a:solidFill>
                <a:latin typeface="Arial" pitchFamily="34" charset="0"/>
                <a:ea typeface="Arial" pitchFamily="34" charset="-122"/>
                <a:cs typeface="Arial" pitchFamily="34" charset="-120"/>
              </a:rPr>
              <a:t>dim_ligue</a:t>
            </a:r>
            <a:endParaRPr lang="en-US" sz="1400" dirty="0"/>
          </a:p>
        </p:txBody>
      </p:sp>
      <p:sp>
        <p:nvSpPr>
          <p:cNvPr id="19" name="Text 17"/>
          <p:cNvSpPr/>
          <p:nvPr/>
        </p:nvSpPr>
        <p:spPr>
          <a:xfrm>
            <a:off x="3644900" y="3667720"/>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fb_league (clé)</a:t>
            </a:r>
            <a:endParaRPr lang="en-US" sz="1200" dirty="0"/>
          </a:p>
        </p:txBody>
      </p:sp>
      <p:sp>
        <p:nvSpPr>
          <p:cNvPr id="20" name="Text 18"/>
          <p:cNvSpPr/>
          <p:nvPr/>
        </p:nvSpPr>
        <p:spPr>
          <a:xfrm>
            <a:off x="3644900" y="3931841"/>
            <a:ext cx="20144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pays</a:t>
            </a:r>
            <a:endParaRPr lang="en-US" sz="1200" dirty="0"/>
          </a:p>
        </p:txBody>
      </p:sp>
      <p:pic>
        <p:nvPicPr>
          <p:cNvPr id="21" name="Image 0" descr="connector">    </p:cNvPr>
          <p:cNvPicPr>
            <a:picLocks noChangeAspect="1"/>
          </p:cNvPicPr>
          <p:nvPr/>
        </p:nvPicPr>
        <p:blipFill>
          <a:blip r:embed="rId1"/>
          <a:srcRect l="0" r="0" t="0" b="0"/>
          <a:stretch/>
        </p:blipFill>
        <p:spPr>
          <a:xfrm>
            <a:off x="3048000" y="2171700"/>
            <a:ext cx="482600" cy="101600"/>
          </a:xfrm>
          <a:prstGeom prst="rect">
            <a:avLst/>
          </a:prstGeom>
        </p:spPr>
      </p:pic>
      <p:pic>
        <p:nvPicPr>
          <p:cNvPr id="22" name="Image 1" descr="connector">    </p:cNvPr>
          <p:cNvPicPr>
            <a:picLocks noChangeAspect="1"/>
          </p:cNvPicPr>
          <p:nvPr/>
        </p:nvPicPr>
        <p:blipFill>
          <a:blip r:embed="rId2"/>
          <a:srcRect l="0" r="0" t="0" b="0"/>
          <a:stretch/>
        </p:blipFill>
        <p:spPr>
          <a:xfrm>
            <a:off x="1905000" y="2984500"/>
            <a:ext cx="101600" cy="304800"/>
          </a:xfrm>
          <a:prstGeom prst="rect">
            <a:avLst/>
          </a:prstGeom>
        </p:spPr>
      </p:pic>
      <p:pic>
        <p:nvPicPr>
          <p:cNvPr id="23" name="Image 2" descr="connector">    </p:cNvPr>
          <p:cNvPicPr>
            <a:picLocks noChangeAspect="1"/>
          </p:cNvPicPr>
          <p:nvPr/>
        </p:nvPicPr>
        <p:blipFill>
          <a:blip r:embed="rId3"/>
          <a:srcRect l="0" r="0" t="0" b="0"/>
          <a:stretch/>
        </p:blipFill>
        <p:spPr>
          <a:xfrm>
            <a:off x="2933700" y="2984500"/>
            <a:ext cx="800100" cy="304800"/>
          </a:xfrm>
          <a:prstGeom prst="rect">
            <a:avLst/>
          </a:prstGeom>
        </p:spPr>
      </p:pic>
      <p:sp>
        <p:nvSpPr>
          <p:cNvPr id="24" name="Text 19"/>
          <p:cNvSpPr/>
          <p:nvPr/>
        </p:nvSpPr>
        <p:spPr>
          <a:xfrm>
            <a:off x="812800" y="4470400"/>
            <a:ext cx="510159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365D"/>
                </a:solidFill>
                <a:latin typeface="Arial" pitchFamily="34" charset="0"/>
                <a:ea typeface="Arial" pitchFamily="34" charset="-122"/>
                <a:cs typeface="Arial" pitchFamily="34" charset="-120"/>
              </a:rPr>
              <a:t>Les 4 parties du script</a:t>
            </a:r>
            <a:endParaRPr lang="en-US" sz="1400" dirty="0"/>
          </a:p>
        </p:txBody>
      </p:sp>
      <p:sp>
        <p:nvSpPr>
          <p:cNvPr id="25" name="Text 20"/>
          <p:cNvSpPr/>
          <p:nvPr/>
        </p:nvSpPr>
        <p:spPr>
          <a:xfrm>
            <a:off x="812800" y="4721820"/>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6D2A"/>
                </a:solidFill>
                <a:latin typeface="Arial" pitchFamily="34" charset="0"/>
                <a:ea typeface="Arial" pitchFamily="34" charset="-122"/>
                <a:cs typeface="Arial" pitchFamily="34" charset="-120"/>
              </a:rPr>
              <a:t>1</a:t>
            </a:r>
            <a:r>
              <a:rPr lang="en-US" sz="1200" dirty="0">
                <a:solidFill>
                  <a:srgbClr val="1B365D"/>
                </a:solidFill>
                <a:latin typeface="Arial" pitchFamily="34" charset="0"/>
                <a:ea typeface="Arial" pitchFamily="34" charset="-122"/>
                <a:cs typeface="Arial" pitchFamily="34" charset="-120"/>
              </a:rPr>
              <a:t> Créer les tables </a:t>
            </a:r>
            <a:r>
              <a:rPr lang="en-US" sz="1200" dirty="0">
                <a:solidFill>
                  <a:srgbClr val="5B7C99"/>
                </a:solidFill>
                <a:latin typeface="Arial" pitchFamily="34" charset="0"/>
                <a:ea typeface="Arial" pitchFamily="34" charset="-122"/>
                <a:cs typeface="Arial" pitchFamily="34" charset="-120"/>
              </a:rPr>
              <a:t>CREATE TABLE · clés</a:t>
            </a:r>
            <a:endParaRPr lang="en-US" sz="1200" dirty="0"/>
          </a:p>
        </p:txBody>
      </p:sp>
      <p:sp>
        <p:nvSpPr>
          <p:cNvPr id="26" name="Text 21"/>
          <p:cNvSpPr/>
          <p:nvPr/>
        </p:nvSpPr>
        <p:spPr>
          <a:xfrm>
            <a:off x="812800" y="4973241"/>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6D2A"/>
                </a:solidFill>
                <a:latin typeface="Arial" pitchFamily="34" charset="0"/>
                <a:ea typeface="Arial" pitchFamily="34" charset="-122"/>
                <a:cs typeface="Arial" pitchFamily="34" charset="-120"/>
              </a:rPr>
              <a:t>2</a:t>
            </a:r>
            <a:r>
              <a:rPr lang="en-US" sz="1200" dirty="0">
                <a:solidFill>
                  <a:srgbClr val="1B365D"/>
                </a:solidFill>
                <a:latin typeface="Arial" pitchFamily="34" charset="0"/>
                <a:ea typeface="Arial" pitchFamily="34" charset="-122"/>
                <a:cs typeface="Arial" pitchFamily="34" charset="-120"/>
              </a:rPr>
              <a:t> Cote et salaire par pays </a:t>
            </a:r>
            <a:r>
              <a:rPr lang="en-US" sz="1200" dirty="0">
                <a:solidFill>
                  <a:srgbClr val="5B7C99"/>
                </a:solidFill>
                <a:latin typeface="Arial" pitchFamily="34" charset="0"/>
                <a:ea typeface="Arial" pitchFamily="34" charset="-122"/>
                <a:cs typeface="Arial" pitchFamily="34" charset="-120"/>
              </a:rPr>
              <a:t>JOIN · GROUP BY</a:t>
            </a:r>
            <a:endParaRPr lang="en-US" sz="1200" dirty="0"/>
          </a:p>
        </p:txBody>
      </p:sp>
      <p:sp>
        <p:nvSpPr>
          <p:cNvPr id="27" name="Text 22"/>
          <p:cNvSpPr/>
          <p:nvPr/>
        </p:nvSpPr>
        <p:spPr>
          <a:xfrm>
            <a:off x="812800" y="5224661"/>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6D2A"/>
                </a:solidFill>
                <a:latin typeface="Arial" pitchFamily="34" charset="0"/>
                <a:ea typeface="Arial" pitchFamily="34" charset="-122"/>
                <a:cs typeface="Arial" pitchFamily="34" charset="-120"/>
              </a:rPr>
              <a:t>3</a:t>
            </a:r>
            <a:r>
              <a:rPr lang="en-US" sz="1200" dirty="0">
                <a:solidFill>
                  <a:srgbClr val="1B365D"/>
                </a:solidFill>
                <a:latin typeface="Arial" pitchFamily="34" charset="0"/>
                <a:ea typeface="Arial" pitchFamily="34" charset="-122"/>
                <a:cs typeface="Arial" pitchFamily="34" charset="-120"/>
              </a:rPr>
              <a:t> Les plus surcotés </a:t>
            </a:r>
            <a:r>
              <a:rPr lang="en-US" sz="1200" dirty="0">
                <a:solidFill>
                  <a:srgbClr val="5B7C99"/>
                </a:solidFill>
                <a:latin typeface="Arial" pitchFamily="34" charset="0"/>
                <a:ea typeface="Arial" pitchFamily="34" charset="-122"/>
                <a:cs typeface="Arial" pitchFamily="34" charset="-120"/>
              </a:rPr>
              <a:t>LIMIT · RANK()</a:t>
            </a:r>
            <a:endParaRPr lang="en-US" sz="1200" dirty="0"/>
          </a:p>
        </p:txBody>
      </p:sp>
      <p:sp>
        <p:nvSpPr>
          <p:cNvPr id="28" name="Text 23"/>
          <p:cNvSpPr/>
          <p:nvPr/>
        </p:nvSpPr>
        <p:spPr>
          <a:xfrm>
            <a:off x="812800" y="5476081"/>
            <a:ext cx="510159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6D2A"/>
                </a:solidFill>
                <a:latin typeface="Arial" pitchFamily="34" charset="0"/>
                <a:ea typeface="Arial" pitchFamily="34" charset="-122"/>
                <a:cs typeface="Arial" pitchFamily="34" charset="-120"/>
              </a:rPr>
              <a:t>4</a:t>
            </a:r>
            <a:r>
              <a:rPr lang="en-US" sz="1200" dirty="0">
                <a:solidFill>
                  <a:srgbClr val="1B365D"/>
                </a:solidFill>
                <a:latin typeface="Arial" pitchFamily="34" charset="0"/>
                <a:ea typeface="Arial" pitchFamily="34" charset="-122"/>
                <a:cs typeface="Arial" pitchFamily="34" charset="-120"/>
              </a:rPr>
              <a:t> </a:t>
            </a:r>
            <a:r>
              <a:rPr lang="en-US" sz="1200" b="1" dirty="0">
                <a:solidFill>
                  <a:srgbClr val="1B365D"/>
                </a:solidFill>
                <a:latin typeface="Arial" pitchFamily="34" charset="0"/>
                <a:ea typeface="Arial" pitchFamily="34" charset="-122"/>
                <a:cs typeface="Arial" pitchFamily="34" charset="-120"/>
              </a:rPr>
              <a:t>Effet du contrat</a:t>
            </a:r>
            <a:r>
              <a:rPr lang="en-US" sz="1200" dirty="0">
                <a:solidFill>
                  <a:srgbClr val="1B365D"/>
                </a:solidFill>
                <a:latin typeface="Arial" pitchFamily="34" charset="0"/>
                <a:ea typeface="Arial" pitchFamily="34" charset="-122"/>
                <a:cs typeface="Arial" pitchFamily="34" charset="-120"/>
              </a:rPr>
              <a:t> </a:t>
            </a:r>
            <a:r>
              <a:rPr lang="en-US" sz="1200" dirty="0">
                <a:solidFill>
                  <a:srgbClr val="8C6D2A"/>
                </a:solidFill>
                <a:latin typeface="Arial" pitchFamily="34" charset="0"/>
                <a:ea typeface="Arial" pitchFamily="34" charset="-122"/>
                <a:cs typeface="Arial" pitchFamily="34" charset="-120"/>
              </a:rPr>
              <a:t>ROW_NUMBER() →</a:t>
            </a:r>
            <a:endParaRPr lang="en-US" sz="1200" dirty="0"/>
          </a:p>
        </p:txBody>
      </p:sp>
      <p:sp>
        <p:nvSpPr>
          <p:cNvPr id="29" name="Shape 24"/>
          <p:cNvSpPr/>
          <p:nvPr/>
        </p:nvSpPr>
        <p:spPr>
          <a:xfrm>
            <a:off x="5994400" y="1778000"/>
            <a:ext cx="5384800" cy="1737122"/>
          </a:xfrm>
          <a:prstGeom prst="roundRect">
            <a:avLst>
              <a:gd name="adj" fmla="val 7311"/>
            </a:avLst>
          </a:prstGeom>
          <a:solidFill>
            <a:srgbClr val="14263F"/>
          </a:solidFill>
          <a:ln/>
        </p:spPr>
      </p:sp>
      <p:sp>
        <p:nvSpPr>
          <p:cNvPr id="30" name="Shape 25"/>
          <p:cNvSpPr/>
          <p:nvPr/>
        </p:nvSpPr>
        <p:spPr>
          <a:xfrm>
            <a:off x="5994400" y="1778000"/>
            <a:ext cx="5384800" cy="365720"/>
          </a:xfrm>
          <a:custGeom>
            <a:avLst/>
            <a:gdLst/>
            <a:ahLst/>
            <a:cxnLst/>
            <a:rect l="l" t="t" r="r" b="b"/>
            <a:pathLst>
              <a:path w="5384800" h="365720">
                <a:moveTo>
                  <a:pt x="0" y="127000"/>
                </a:moveTo>
                <a:arcTo hR="127000" wR="127000" stAng="10800000" swAng="5400000"/>
                <a:lnTo>
                  <a:pt x="5257800" y="0"/>
                </a:lnTo>
                <a:arcTo hR="127000" wR="127000" stAng="16200000" swAng="5400000"/>
                <a:lnTo>
                  <a:pt x="5384800" y="365720"/>
                </a:lnTo>
                <a:lnTo>
                  <a:pt x="0" y="365720"/>
                </a:lnTo>
                <a:close/>
              </a:path>
            </a:pathLst>
          </a:custGeom>
          <a:solidFill>
            <a:srgbClr val="1B365D"/>
          </a:solidFill>
          <a:ln/>
        </p:spPr>
      </p:sp>
      <p:sp>
        <p:nvSpPr>
          <p:cNvPr id="31" name="Shape 26"/>
          <p:cNvSpPr/>
          <p:nvPr/>
        </p:nvSpPr>
        <p:spPr>
          <a:xfrm>
            <a:off x="6146800" y="1910060"/>
            <a:ext cx="101600" cy="101600"/>
          </a:xfrm>
          <a:prstGeom prst="roundRect">
            <a:avLst>
              <a:gd name="adj" fmla="val 50000"/>
            </a:avLst>
          </a:prstGeom>
          <a:solidFill>
            <a:srgbClr val="C45C26"/>
          </a:solidFill>
          <a:ln/>
        </p:spPr>
      </p:sp>
      <p:sp>
        <p:nvSpPr>
          <p:cNvPr id="32" name="Shape 27"/>
          <p:cNvSpPr/>
          <p:nvPr/>
        </p:nvSpPr>
        <p:spPr>
          <a:xfrm>
            <a:off x="6324600" y="1910060"/>
            <a:ext cx="101600" cy="101600"/>
          </a:xfrm>
          <a:prstGeom prst="roundRect">
            <a:avLst>
              <a:gd name="adj" fmla="val 50000"/>
            </a:avLst>
          </a:prstGeom>
          <a:solidFill>
            <a:srgbClr val="C4A35A"/>
          </a:solidFill>
          <a:ln/>
        </p:spPr>
      </p:sp>
      <p:sp>
        <p:nvSpPr>
          <p:cNvPr id="33" name="Shape 28"/>
          <p:cNvSpPr/>
          <p:nvPr/>
        </p:nvSpPr>
        <p:spPr>
          <a:xfrm>
            <a:off x="6502400" y="1910060"/>
            <a:ext cx="101600" cy="101600"/>
          </a:xfrm>
          <a:prstGeom prst="roundRect">
            <a:avLst>
              <a:gd name="adj" fmla="val 50000"/>
            </a:avLst>
          </a:prstGeom>
          <a:solidFill>
            <a:srgbClr val="3D6B5A"/>
          </a:solidFill>
          <a:ln/>
        </p:spPr>
      </p:sp>
      <p:sp>
        <p:nvSpPr>
          <p:cNvPr id="34" name="Text 29"/>
          <p:cNvSpPr/>
          <p:nvPr/>
        </p:nvSpPr>
        <p:spPr>
          <a:xfrm>
            <a:off x="6680200" y="1854200"/>
            <a:ext cx="2306657"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DCE3EC"/>
                </a:solidFill>
                <a:latin typeface="Arial" pitchFamily="34" charset="0"/>
                <a:ea typeface="Arial" pitchFamily="34" charset="-122"/>
                <a:cs typeface="Arial" pitchFamily="34" charset="-120"/>
              </a:rPr>
              <a:t>requête 4 · effet du contrat</a:t>
            </a:r>
            <a:endParaRPr lang="en-US" sz="1200" dirty="0"/>
          </a:p>
        </p:txBody>
      </p:sp>
      <p:sp>
        <p:nvSpPr>
          <p:cNvPr id="35" name="Text 30"/>
          <p:cNvSpPr/>
          <p:nvPr/>
        </p:nvSpPr>
        <p:spPr>
          <a:xfrm>
            <a:off x="6146800" y="2245320"/>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Courier New" pitchFamily="49" charset="0"/>
                <a:ea typeface="Courier New" pitchFamily="49" charset="-122"/>
                <a:cs typeface="Courier New" pitchFamily="49" charset="-120"/>
              </a:rPr>
              <a:t>SELECT ROUND(s.annees_contrat) AS annees</a:t>
            </a:r>
            <a:endParaRPr lang="en-US" sz="1200" dirty="0"/>
          </a:p>
        </p:txBody>
      </p:sp>
      <p:sp>
        <p:nvSpPr>
          <p:cNvPr id="36" name="Text 31"/>
          <p:cNvSpPr/>
          <p:nvPr/>
        </p:nvSpPr>
        <p:spPr>
          <a:xfrm>
            <a:off x="6146800" y="248404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Courier New" pitchFamily="49" charset="0"/>
                <a:ea typeface="Courier New" pitchFamily="49" charset="-122"/>
                <a:cs typeface="Courier New" pitchFamily="49" charset="-120"/>
              </a:rPr>
              <a:t>FROM joueurs j JOIN joueurs_salaire s</a:t>
            </a:r>
            <a:endParaRPr lang="en-US" sz="1200" dirty="0"/>
          </a:p>
        </p:txBody>
      </p:sp>
      <p:sp>
        <p:nvSpPr>
          <p:cNvPr id="37" name="Text 32"/>
          <p:cNvSpPr/>
          <p:nvPr/>
        </p:nvSpPr>
        <p:spPr>
          <a:xfrm>
            <a:off x="6146800" y="272276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7F5F2"/>
                </a:solidFill>
                <a:latin typeface="Courier New" pitchFamily="49" charset="0"/>
                <a:ea typeface="Courier New" pitchFamily="49" charset="-122"/>
                <a:cs typeface="Courier New" pitchFamily="49" charset="-120"/>
              </a:rPr>
              <a:t>ON j.fb_id = s.fb_id</a:t>
            </a:r>
            <a:endParaRPr lang="en-US" sz="1200" dirty="0"/>
          </a:p>
        </p:txBody>
      </p:sp>
      <p:sp>
        <p:nvSpPr>
          <p:cNvPr id="38" name="Text 33"/>
          <p:cNvSpPr/>
          <p:nvPr/>
        </p:nvSpPr>
        <p:spPr>
          <a:xfrm>
            <a:off x="6146800" y="2961481"/>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C97A"/>
                </a:solidFill>
                <a:latin typeface="Courier New" pitchFamily="49" charset="0"/>
                <a:ea typeface="Courier New" pitchFamily="49" charset="-122"/>
                <a:cs typeface="Courier New" pitchFamily="49" charset="-120"/>
              </a:rPr>
              <a:t>ROW_NUMBER() OVER (PARTITION BY annees)</a:t>
            </a:r>
            <a:endParaRPr lang="en-US" sz="1200" dirty="0"/>
          </a:p>
        </p:txBody>
      </p:sp>
      <p:sp>
        <p:nvSpPr>
          <p:cNvPr id="39" name="Text 34"/>
          <p:cNvSpPr/>
          <p:nvPr/>
        </p:nvSpPr>
        <p:spPr>
          <a:xfrm>
            <a:off x="6146800" y="3200202"/>
            <a:ext cx="5232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3C8"/>
                </a:solidFill>
                <a:latin typeface="Courier New" pitchFamily="49" charset="0"/>
                <a:ea typeface="Courier New" pitchFamily="49" charset="-122"/>
                <a:cs typeface="Courier New" pitchFamily="49" charset="-120"/>
              </a:rPr>
              <a:t>→ médianes · GROUP BY annees</a:t>
            </a:r>
            <a:endParaRPr lang="en-US" sz="1200" dirty="0"/>
          </a:p>
        </p:txBody>
      </p:sp>
      <p:sp>
        <p:nvSpPr>
          <p:cNvPr id="40" name="Shape 35"/>
          <p:cNvSpPr/>
          <p:nvPr/>
        </p:nvSpPr>
        <p:spPr>
          <a:xfrm>
            <a:off x="5994400" y="3746500"/>
            <a:ext cx="5384800" cy="2021483"/>
          </a:xfrm>
          <a:prstGeom prst="roundRect">
            <a:avLst>
              <a:gd name="adj" fmla="val 5026"/>
            </a:avLst>
          </a:prstGeom>
          <a:solidFill>
            <a:srgbClr val="FFFCF7"/>
          </a:solidFill>
          <a:ln/>
        </p:spPr>
      </p:sp>
      <p:sp>
        <p:nvSpPr>
          <p:cNvPr id="41" name="Shape 36"/>
          <p:cNvSpPr/>
          <p:nvPr/>
        </p:nvSpPr>
        <p:spPr>
          <a:xfrm>
            <a:off x="5994400" y="3746500"/>
            <a:ext cx="5384800" cy="2021483"/>
          </a:xfrm>
          <a:custGeom>
            <a:avLst/>
            <a:gdLst/>
            <a:ahLst/>
            <a:cxnLst/>
            <a:rect l="l" t="t" r="r" b="b"/>
            <a:pathLst>
              <a:path w="5384800" h="2021483">
                <a:moveTo>
                  <a:pt x="5283200" y="0"/>
                </a:moveTo>
                <a:lnTo>
                  <a:pt x="5283200" y="0"/>
                </a:lnTo>
                <a:arcTo hR="101600" wR="101600" stAng="16200000" swAng="5400000"/>
                <a:lnTo>
                  <a:pt x="5384800" y="1919883"/>
                </a:lnTo>
                <a:arcTo hR="101600" wR="101600" stAng="0" swAng="5400000"/>
                <a:lnTo>
                  <a:pt x="101600" y="2021483"/>
                </a:lnTo>
                <a:arcTo hR="101600" wR="101600" stAng="5400000" swAng="5400000"/>
                <a:lnTo>
                  <a:pt x="0" y="1919883"/>
                </a:lnTo>
                <a:arcTo hR="88900" wR="101600" stAng="10800000" swAng="-5400000"/>
                <a:lnTo>
                  <a:pt x="5283200" y="2008783"/>
                </a:lnTo>
                <a:arcTo hR="88900" wR="88900" stAng="5400000" swAng="-5400000"/>
                <a:lnTo>
                  <a:pt x="5372100" y="101600"/>
                </a:lnTo>
                <a:arcTo hR="101600" wR="88900" stAng="0" swAng="-5400000"/>
                <a:close/>
              </a:path>
            </a:pathLst>
          </a:custGeom>
          <a:solidFill>
            <a:srgbClr val="D4C4A8"/>
          </a:solidFill>
          <a:ln/>
        </p:spPr>
      </p:sp>
      <p:sp>
        <p:nvSpPr>
          <p:cNvPr id="42" name="Shape 37"/>
          <p:cNvSpPr/>
          <p:nvPr/>
        </p:nvSpPr>
        <p:spPr>
          <a:xfrm>
            <a:off x="5994400" y="3746500"/>
            <a:ext cx="5384800" cy="2021483"/>
          </a:xfrm>
          <a:custGeom>
            <a:avLst/>
            <a:gdLst/>
            <a:ahLst/>
            <a:cxnLst/>
            <a:rect l="l" t="t" r="r" b="b"/>
            <a:pathLst>
              <a:path w="5384800" h="2021483">
                <a:moveTo>
                  <a:pt x="101600" y="2021483"/>
                </a:moveTo>
                <a:lnTo>
                  <a:pt x="101600" y="2021483"/>
                </a:lnTo>
                <a:arcTo hR="101600" wR="101600" stAng="5400000" swAng="5400000"/>
                <a:lnTo>
                  <a:pt x="0" y="101600"/>
                </a:lnTo>
                <a:arcTo hR="101600" wR="101600" stAng="10800000" swAng="5400000"/>
                <a:lnTo>
                  <a:pt x="5283200" y="0"/>
                </a:lnTo>
                <a:arcTo hR="101600" wR="101600" stAng="16200000" swAng="5400000"/>
                <a:lnTo>
                  <a:pt x="5384800" y="101600"/>
                </a:lnTo>
                <a:arcTo hR="88900" wR="101600" stAng="0" swAng="-5400000"/>
                <a:lnTo>
                  <a:pt x="101600" y="12700"/>
                </a:lnTo>
                <a:arcTo hR="88900" wR="88900" stAng="16200000" swAng="-5400000"/>
                <a:lnTo>
                  <a:pt x="12700" y="1919883"/>
                </a:lnTo>
                <a:arcTo hR="101600" wR="88900" stAng="10800000" swAng="-5400000"/>
                <a:close/>
              </a:path>
            </a:pathLst>
          </a:custGeom>
          <a:solidFill>
            <a:srgbClr val="141413">
              <a:alpha val="22000"/>
            </a:srgbClr>
          </a:solidFill>
          <a:ln/>
        </p:spPr>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6007100" y="3759200"/>
          <a:ext cx="5359400" cy="1996083"/>
        </p:xfrm>
        <a:graphic>
          <a:graphicData uri="http://schemas.openxmlformats.org/drawingml/2006/table">
            <a:tbl>
              <a:tblPr/>
              <a:tblGrid>
                <a:gridCol w="1500632"/>
                <a:gridCol w="964692"/>
                <a:gridCol w="1447038"/>
                <a:gridCol w="1447038"/>
              </a:tblGrid>
              <a:tr h="332680">
                <a:tc>
                  <a:txBody>
                    <a:bodyPr/>
                    <a:lstStyle/>
                    <a:p>
                      <a:pPr indent="0" marL="0">
                        <a:lnSpc>
                          <a:spcPts val="1680"/>
                        </a:lnSpc>
                        <a:buNone/>
                      </a:pPr>
                      <a:r>
                        <a:rPr lang="en-US" sz="1200" b="1" dirty="0">
                          <a:solidFill>
                            <a:srgbClr val="F7F5F2"/>
                          </a:solidFill>
                          <a:latin typeface="Arial" pitchFamily="34" charset="0"/>
                          <a:ea typeface="Arial" pitchFamily="34" charset="-122"/>
                          <a:cs typeface="Arial" pitchFamily="34" charset="-120"/>
                        </a:rPr>
                        <a:t>Contrat restant</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192F4D"/>
                      </a:solidFill>
                      <a:prstDash val="solid"/>
                      <a:round/>
                      <a:headEnd type="none" w="med" len="med"/>
                      <a:tailEnd type="none" w="med" len="med"/>
                    </a:lnR>
                    <a:lnT w="0" cap="flat" cmpd="sng" algn="ctr">
                      <a:noFill/>
                    </a:lnT>
                    <a:lnB w="12700" cap="flat" cmpd="sng" algn="ctr">
                      <a:solidFill>
                        <a:srgbClr val="192F4D"/>
                      </a:solidFill>
                      <a:prstDash val="solid"/>
                      <a:round/>
                      <a:headEnd type="none" w="med" len="med"/>
                      <a:tailEnd type="none" w="med" len="med"/>
                    </a:lnB>
                    <a:solidFill>
                      <a:srgbClr val="1B365D"/>
                    </a:solidFill>
                  </a:tcPr>
                </a:tc>
                <a:tc>
                  <a:txBody>
                    <a:bodyPr/>
                    <a:lstStyle/>
                    <a:p>
                      <a:pPr algn="r" indent="0" marL="0">
                        <a:lnSpc>
                          <a:spcPts val="1680"/>
                        </a:lnSpc>
                        <a:buNone/>
                      </a:pPr>
                      <a:r>
                        <a:rPr lang="en-US" sz="1200" b="1" dirty="0">
                          <a:solidFill>
                            <a:srgbClr val="F7F5F2"/>
                          </a:solidFill>
                          <a:latin typeface="Arial" pitchFamily="34" charset="0"/>
                          <a:ea typeface="Arial" pitchFamily="34" charset="-122"/>
                          <a:cs typeface="Arial" pitchFamily="34" charset="-120"/>
                        </a:rPr>
                        <a:t>Joueurs</a:t>
                      </a:r>
                      <a:endParaRPr lang="en-US" sz="1200" dirty="0">
                        <a:latin typeface="Arial" charset="0"/>
                        <a:ea typeface="Arial" charset="0"/>
                        <a:cs typeface="Arial" charset="0"/>
                      </a:endParaRPr>
                    </a:p>
                  </a:txBody>
                  <a:tcPr marL="53340" marR="53340" marT="53340" marB="53340" anchor="t">
                    <a:lnL w="12700" cap="flat" cmpd="sng" algn="ctr">
                      <a:solidFill>
                        <a:srgbClr val="192F4D"/>
                      </a:solidFill>
                      <a:prstDash val="solid"/>
                      <a:round/>
                      <a:headEnd type="none" w="med" len="med"/>
                      <a:tailEnd type="none" w="med" len="med"/>
                    </a:lnL>
                    <a:lnR w="12700" cap="flat" cmpd="sng" algn="ctr">
                      <a:solidFill>
                        <a:srgbClr val="192F4D"/>
                      </a:solidFill>
                      <a:prstDash val="solid"/>
                      <a:round/>
                      <a:headEnd type="none" w="med" len="med"/>
                      <a:tailEnd type="none" w="med" len="med"/>
                    </a:lnR>
                    <a:lnT w="0" cap="flat" cmpd="sng" algn="ctr">
                      <a:noFill/>
                    </a:lnT>
                    <a:lnB w="12700" cap="flat" cmpd="sng" algn="ctr">
                      <a:solidFill>
                        <a:srgbClr val="192F4D"/>
                      </a:solidFill>
                      <a:prstDash val="solid"/>
                      <a:round/>
                      <a:headEnd type="none" w="med" len="med"/>
                      <a:tailEnd type="none" w="med" len="med"/>
                    </a:lnB>
                    <a:solidFill>
                      <a:srgbClr val="1B365D"/>
                    </a:solidFill>
                  </a:tcPr>
                </a:tc>
                <a:tc>
                  <a:txBody>
                    <a:bodyPr/>
                    <a:lstStyle/>
                    <a:p>
                      <a:pPr algn="r" indent="0" marL="0">
                        <a:lnSpc>
                          <a:spcPts val="1680"/>
                        </a:lnSpc>
                        <a:buNone/>
                      </a:pPr>
                      <a:r>
                        <a:rPr lang="en-US" sz="1200" b="1" dirty="0">
                          <a:solidFill>
                            <a:srgbClr val="F7F5F2"/>
                          </a:solidFill>
                          <a:latin typeface="Arial" pitchFamily="34" charset="0"/>
                          <a:ea typeface="Arial" pitchFamily="34" charset="-122"/>
                          <a:cs typeface="Arial" pitchFamily="34" charset="-120"/>
                        </a:rPr>
                        <a:t>Cote médiane</a:t>
                      </a:r>
                      <a:endParaRPr lang="en-US" sz="1200" dirty="0">
                        <a:latin typeface="Arial" charset="0"/>
                        <a:ea typeface="Arial" charset="0"/>
                        <a:cs typeface="Arial" charset="0"/>
                      </a:endParaRPr>
                    </a:p>
                  </a:txBody>
                  <a:tcPr marL="53340" marR="53340" marT="53340" marB="53340" anchor="t">
                    <a:lnL w="12700" cap="flat" cmpd="sng" algn="ctr">
                      <a:solidFill>
                        <a:srgbClr val="192F4D"/>
                      </a:solidFill>
                      <a:prstDash val="solid"/>
                      <a:round/>
                      <a:headEnd type="none" w="med" len="med"/>
                      <a:tailEnd type="none" w="med" len="med"/>
                    </a:lnL>
                    <a:lnR w="12700" cap="flat" cmpd="sng" algn="ctr">
                      <a:solidFill>
                        <a:srgbClr val="192F4D"/>
                      </a:solidFill>
                      <a:prstDash val="solid"/>
                      <a:round/>
                      <a:headEnd type="none" w="med" len="med"/>
                      <a:tailEnd type="none" w="med" len="med"/>
                    </a:lnR>
                    <a:lnT w="0" cap="flat" cmpd="sng" algn="ctr">
                      <a:noFill/>
                    </a:lnT>
                    <a:lnB w="12700" cap="flat" cmpd="sng" algn="ctr">
                      <a:solidFill>
                        <a:srgbClr val="192F4D"/>
                      </a:solidFill>
                      <a:prstDash val="solid"/>
                      <a:round/>
                      <a:headEnd type="none" w="med" len="med"/>
                      <a:tailEnd type="none" w="med" len="med"/>
                    </a:lnB>
                    <a:solidFill>
                      <a:srgbClr val="1B365D"/>
                    </a:solidFill>
                  </a:tcPr>
                </a:tc>
                <a:tc>
                  <a:txBody>
                    <a:bodyPr/>
                    <a:lstStyle/>
                    <a:p>
                      <a:pPr algn="r" indent="0" marL="0">
                        <a:lnSpc>
                          <a:spcPts val="1680"/>
                        </a:lnSpc>
                        <a:buNone/>
                      </a:pPr>
                      <a:r>
                        <a:rPr lang="en-US" sz="1200" b="1" dirty="0">
                          <a:solidFill>
                            <a:srgbClr val="F7F5F2"/>
                          </a:solidFill>
                          <a:latin typeface="Arial" pitchFamily="34" charset="0"/>
                          <a:ea typeface="Arial" pitchFamily="34" charset="-122"/>
                          <a:cs typeface="Arial" pitchFamily="34" charset="-120"/>
                        </a:rPr>
                        <a:t>Marché ÷ règle</a:t>
                      </a:r>
                      <a:endParaRPr lang="en-US" sz="1200" dirty="0">
                        <a:latin typeface="Arial" charset="0"/>
                        <a:ea typeface="Arial" charset="0"/>
                        <a:cs typeface="Arial" charset="0"/>
                      </a:endParaRPr>
                    </a:p>
                  </a:txBody>
                  <a:tcPr marL="53340" marR="53340" marT="53340" marB="53340" anchor="t">
                    <a:lnL w="12700" cap="flat" cmpd="sng" algn="ctr">
                      <a:solidFill>
                        <a:srgbClr val="192F4D"/>
                      </a:solidFill>
                      <a:prstDash val="solid"/>
                      <a:round/>
                      <a:headEnd type="none" w="med" len="med"/>
                      <a:tailEnd type="none" w="med" len="med"/>
                    </a:lnL>
                    <a:lnR w="12700" cap="flat" cmpd="sng" algn="ctr">
                      <a:solidFill>
                        <a:srgbClr val="192F4D"/>
                      </a:solidFill>
                      <a:prstDash val="solid"/>
                      <a:round/>
                      <a:headEnd type="none" w="med" len="med"/>
                      <a:tailEnd type="none" w="med" len="med"/>
                    </a:lnR>
                    <a:lnT w="0" cap="flat" cmpd="sng" algn="ctr">
                      <a:noFill/>
                    </a:lnT>
                    <a:lnB w="12700" cap="flat" cmpd="sng" algn="ctr">
                      <a:solidFill>
                        <a:srgbClr val="192F4D"/>
                      </a:solidFill>
                      <a:prstDash val="solid"/>
                      <a:round/>
                      <a:headEnd type="none" w="med" len="med"/>
                      <a:tailEnd type="none" w="med" len="med"/>
                    </a:lnB>
                    <a:solidFill>
                      <a:srgbClr val="1B365D"/>
                    </a:solidFill>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0 an</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84</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3,5 M€</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×0,87</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1 an</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150</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7,0 M€</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×0,97</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2 ans</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172</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15,0 M€</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×1,25</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3 ans</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195</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17,0 M€</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4 ans</a:t>
                      </a:r>
                      <a:endParaRPr lang="en-US" sz="1200" dirty="0">
                        <a:latin typeface="Arial" charset="0"/>
                        <a:ea typeface="Arial" charset="0"/>
                        <a:cs typeface="Arial" charset="0"/>
                      </a:endParaRPr>
                    </a:p>
                  </a:txBody>
                  <a:tcPr marL="53340" marR="53340" marT="53340" marB="53340" anchor="t">
                    <a:lnL w="0" cap="flat" cmpd="sng" algn="ctr">
                      <a:noFill/>
                    </a:lnL>
                    <a:lnR w="12700" cap="flat" cmpd="sng" algn="ctr">
                      <a:solidFill>
                        <a:srgbClr val="C2BCA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2BCAD"/>
                      </a:solidFill>
                      <a:prstDash val="solid"/>
                      <a:round/>
                      <a:headEnd type="none" w="med" len="med"/>
                      <a:tailEnd type="none" w="med" len="med"/>
                    </a:lnB>
                    <a:solidFill>
                      <a:srgbClr val="F3EBD8"/>
                    </a:solidFill>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118</a:t>
                      </a:r>
                      <a:endParaRPr lang="en-US" sz="1200" dirty="0">
                        <a:latin typeface="Arial" charset="0"/>
                        <a:ea typeface="Arial" charset="0"/>
                        <a:cs typeface="Arial" charset="0"/>
                      </a:endParaRPr>
                    </a:p>
                  </a:txBody>
                  <a:tcPr marL="53340" marR="53340" marT="53340" marB="53340" anchor="t">
                    <a:lnL w="12700" cap="flat" cmpd="sng" algn="ctr">
                      <a:solidFill>
                        <a:srgbClr val="C2BCAD"/>
                      </a:solidFill>
                      <a:prstDash val="solid"/>
                      <a:round/>
                      <a:headEnd type="none" w="med" len="med"/>
                      <a:tailEnd type="none" w="med" len="med"/>
                    </a:lnL>
                    <a:lnR w="12700" cap="flat" cmpd="sng" algn="ctr">
                      <a:solidFill>
                        <a:srgbClr val="C2BCA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2BCAD"/>
                      </a:solidFill>
                      <a:prstDash val="solid"/>
                      <a:round/>
                      <a:headEnd type="none" w="med" len="med"/>
                      <a:tailEnd type="none" w="med" len="med"/>
                    </a:lnB>
                    <a:solidFill>
                      <a:srgbClr val="F3EBD8"/>
                    </a:solidFill>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30,0 M€</a:t>
                      </a:r>
                      <a:endParaRPr lang="en-US" sz="1200" dirty="0">
                        <a:latin typeface="Arial" charset="0"/>
                        <a:ea typeface="Arial" charset="0"/>
                        <a:cs typeface="Arial" charset="0"/>
                      </a:endParaRPr>
                    </a:p>
                  </a:txBody>
                  <a:tcPr marL="53340" marR="53340" marT="53340" marB="53340" anchor="t">
                    <a:lnL w="12700" cap="flat" cmpd="sng" algn="ctr">
                      <a:solidFill>
                        <a:srgbClr val="C2BCAD"/>
                      </a:solidFill>
                      <a:prstDash val="solid"/>
                      <a:round/>
                      <a:headEnd type="none" w="med" len="med"/>
                      <a:tailEnd type="none" w="med" len="med"/>
                    </a:lnL>
                    <a:lnR w="12700" cap="flat" cmpd="sng" algn="ctr">
                      <a:solidFill>
                        <a:srgbClr val="C2BCA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2BCAD"/>
                      </a:solidFill>
                      <a:prstDash val="solid"/>
                      <a:round/>
                      <a:headEnd type="none" w="med" len="med"/>
                      <a:tailEnd type="none" w="med" len="med"/>
                    </a:lnB>
                    <a:solidFill>
                      <a:srgbClr val="F3EBD8"/>
                    </a:solidFill>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×1,44</a:t>
                      </a:r>
                      <a:endParaRPr lang="en-US" sz="1200" dirty="0">
                        <a:latin typeface="Arial" charset="0"/>
                        <a:ea typeface="Arial" charset="0"/>
                        <a:cs typeface="Arial" charset="0"/>
                      </a:endParaRPr>
                    </a:p>
                  </a:txBody>
                  <a:tcPr marL="53340" marR="53340" marT="53340" marB="53340" anchor="t">
                    <a:lnL w="12700" cap="flat" cmpd="sng" algn="ctr">
                      <a:solidFill>
                        <a:srgbClr val="C2BCAD"/>
                      </a:solidFill>
                      <a:prstDash val="solid"/>
                      <a:round/>
                      <a:headEnd type="none" w="med" len="med"/>
                      <a:tailEnd type="none" w="med" len="med"/>
                    </a:lnL>
                    <a:lnR w="12700" cap="flat" cmpd="sng" algn="ctr">
                      <a:solidFill>
                        <a:srgbClr val="C2BCA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2BCAD"/>
                      </a:solidFill>
                      <a:prstDash val="solid"/>
                      <a:round/>
                      <a:headEnd type="none" w="med" len="med"/>
                      <a:tailEnd type="none" w="med" len="med"/>
                    </a:lnB>
                    <a:solidFill>
                      <a:srgbClr val="F3EBD8"/>
                    </a:solidFill>
                  </a:tcPr>
                </a:tc>
              </a:tr>
            </a:tbl>
          </a:graphicData>
        </a:graphic>
      </p:graphicFrame>
      <p:sp>
        <p:nvSpPr>
          <p:cNvPr id="44" name="Text 38"/>
          <p:cNvSpPr/>
          <p:nvPr/>
        </p:nvSpPr>
        <p:spPr>
          <a:xfrm>
            <a:off x="812800" y="6243340"/>
            <a:ext cx="85439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7C99"/>
                </a:solidFill>
                <a:latin typeface="Arial" pitchFamily="34" charset="0"/>
                <a:ea typeface="Arial" pitchFamily="34" charset="-122"/>
                <a:cs typeface="Arial" pitchFamily="34" charset="-120"/>
              </a:rPr>
              <a:t>fb_position = code · fb_league = fb_league</a:t>
            </a:r>
            <a:r>
              <a:rPr lang="en-US" sz="1200" dirty="0">
                <a:solidFill>
                  <a:srgbClr val="5E6B7B"/>
                </a:solidFill>
                <a:latin typeface="Arial" pitchFamily="34" charset="0"/>
                <a:ea typeface="Arial" pitchFamily="34" charset="-122"/>
                <a:cs typeface="Arial" pitchFamily="34" charset="-120"/>
              </a:rPr>
              <a:t> · </a:t>
            </a:r>
            <a:r>
              <a:rPr lang="en-US" sz="1200" dirty="0">
                <a:solidFill>
                  <a:srgbClr val="8C6D2A"/>
                </a:solidFill>
                <a:latin typeface="Arial" pitchFamily="34" charset="0"/>
                <a:ea typeface="Arial" pitchFamily="34" charset="-122"/>
                <a:cs typeface="Arial" pitchFamily="34" charset="-120"/>
              </a:rPr>
              <a:t>fb_id = fb_id (web scraping)</a:t>
            </a:r>
            <a:r>
              <a:rPr lang="en-US" sz="1200" dirty="0">
                <a:solidFill>
                  <a:srgbClr val="5E6B7B"/>
                </a:solidFill>
                <a:latin typeface="Arial" pitchFamily="34" charset="0"/>
                <a:ea typeface="Arial" pitchFamily="34" charset="-122"/>
                <a:cs typeface="Arial" pitchFamily="34" charset="-120"/>
              </a:rPr>
              <a:t> · médiane via ROW_NUMBER()</a:t>
            </a:r>
            <a:endParaRPr lang="en-US" sz="1200" dirty="0"/>
          </a:p>
        </p:txBody>
      </p:sp>
      <p:sp>
        <p:nvSpPr>
          <p:cNvPr id="45" name="Text 39"/>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ANALYSE 1 · LE MARCHÉ ET LA RÈGLE</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Le marché paie d'abord la ligue et l'âge</a:t>
            </a:r>
            <a:endParaRPr lang="en-US" sz="2800" dirty="0"/>
          </a:p>
        </p:txBody>
      </p:sp>
      <p:sp>
        <p:nvSpPr>
          <p:cNvPr id="4" name="Shape 2"/>
          <p:cNvSpPr/>
          <p:nvPr/>
        </p:nvSpPr>
        <p:spPr>
          <a:xfrm>
            <a:off x="812800" y="1778000"/>
            <a:ext cx="3352800" cy="838200"/>
          </a:xfrm>
          <a:prstGeom prst="roundRect">
            <a:avLst>
              <a:gd name="adj" fmla="val 15152"/>
            </a:avLst>
          </a:prstGeom>
          <a:solidFill>
            <a:srgbClr val="1B365D"/>
          </a:solidFill>
          <a:ln/>
        </p:spPr>
      </p:sp>
      <p:sp>
        <p:nvSpPr>
          <p:cNvPr id="5" name="Text 3"/>
          <p:cNvSpPr/>
          <p:nvPr/>
        </p:nvSpPr>
        <p:spPr>
          <a:xfrm>
            <a:off x="1016000" y="1930400"/>
            <a:ext cx="802977" cy="558800"/>
          </a:xfrm>
          <a:prstGeom prst="rect">
            <a:avLst/>
          </a:prstGeom>
          <a:noFill/>
          <a:ln/>
        </p:spPr>
        <p:txBody>
          <a:bodyPr wrap="none" lIns="0" tIns="0" rIns="0" bIns="0" rtlCol="0" anchor="t">
            <a:normAutofit/>
          </a:bodyPr>
          <a:lstStyle/>
          <a:p>
            <a:pPr algn="l" indent="0" marL="0">
              <a:lnSpc>
                <a:spcPts val="4200"/>
              </a:lnSpc>
              <a:buNone/>
            </a:pPr>
            <a:r>
              <a:rPr lang="en-US" sz="3000" b="1" dirty="0">
                <a:solidFill>
                  <a:srgbClr val="C4A35A"/>
                </a:solidFill>
                <a:latin typeface="Arial" pitchFamily="34" charset="0"/>
                <a:ea typeface="Arial" pitchFamily="34" charset="-122"/>
                <a:cs typeface="Arial" pitchFamily="34" charset="-120"/>
              </a:rPr>
              <a:t>×2,6</a:t>
            </a:r>
            <a:endParaRPr lang="en-US" sz="3000" dirty="0"/>
          </a:p>
        </p:txBody>
      </p:sp>
      <p:sp>
        <p:nvSpPr>
          <p:cNvPr id="6" name="Text 4"/>
          <p:cNvSpPr/>
          <p:nvPr/>
        </p:nvSpPr>
        <p:spPr>
          <a:xfrm>
            <a:off x="1920577" y="2098030"/>
            <a:ext cx="2103077"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7F5F2"/>
                </a:solidFill>
                <a:latin typeface="Arial" pitchFamily="34" charset="0"/>
                <a:ea typeface="Arial" pitchFamily="34" charset="-122"/>
                <a:cs typeface="Arial" pitchFamily="34" charset="-120"/>
              </a:rPr>
              <a:t>Premier League, à profil égal</a:t>
            </a:r>
            <a:endParaRPr lang="en-US" sz="1200" dirty="0"/>
          </a:p>
        </p:txBody>
      </p:sp>
      <p:sp>
        <p:nvSpPr>
          <p:cNvPr id="7" name="Shape 5"/>
          <p:cNvSpPr/>
          <p:nvPr/>
        </p:nvSpPr>
        <p:spPr>
          <a:xfrm>
            <a:off x="4419600" y="1778000"/>
            <a:ext cx="3352800" cy="838200"/>
          </a:xfrm>
          <a:prstGeom prst="roundRect">
            <a:avLst>
              <a:gd name="adj" fmla="val 15152"/>
            </a:avLst>
          </a:prstGeom>
          <a:solidFill>
            <a:srgbClr val="1B365D"/>
          </a:solidFill>
          <a:ln/>
        </p:spPr>
      </p:sp>
      <p:sp>
        <p:nvSpPr>
          <p:cNvPr id="8" name="Text 6"/>
          <p:cNvSpPr/>
          <p:nvPr/>
        </p:nvSpPr>
        <p:spPr>
          <a:xfrm>
            <a:off x="4622800" y="1930400"/>
            <a:ext cx="1141710" cy="558800"/>
          </a:xfrm>
          <a:prstGeom prst="rect">
            <a:avLst/>
          </a:prstGeom>
          <a:noFill/>
          <a:ln/>
        </p:spPr>
        <p:txBody>
          <a:bodyPr wrap="none" lIns="0" tIns="0" rIns="0" bIns="0" rtlCol="0" anchor="t">
            <a:normAutofit/>
          </a:bodyPr>
          <a:lstStyle/>
          <a:p>
            <a:pPr algn="l" indent="0" marL="0">
              <a:lnSpc>
                <a:spcPts val="4200"/>
              </a:lnSpc>
              <a:buNone/>
            </a:pPr>
            <a:r>
              <a:rPr lang="en-US" sz="3000" b="1" dirty="0">
                <a:solidFill>
                  <a:srgbClr val="C4A35A"/>
                </a:solidFill>
                <a:latin typeface="Arial" pitchFamily="34" charset="0"/>
                <a:ea typeface="Arial" pitchFamily="34" charset="-122"/>
                <a:cs typeface="Arial" pitchFamily="34" charset="-120"/>
              </a:rPr>
              <a:t>−17 %</a:t>
            </a:r>
            <a:endParaRPr lang="en-US" sz="3000" dirty="0"/>
          </a:p>
        </p:txBody>
      </p:sp>
      <p:sp>
        <p:nvSpPr>
          <p:cNvPr id="9" name="Text 7"/>
          <p:cNvSpPr/>
          <p:nvPr/>
        </p:nvSpPr>
        <p:spPr>
          <a:xfrm>
            <a:off x="5866110" y="2098030"/>
            <a:ext cx="1754183"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7F5F2"/>
                </a:solidFill>
                <a:latin typeface="Arial" pitchFamily="34" charset="0"/>
                <a:ea typeface="Arial" pitchFamily="34" charset="-122"/>
                <a:cs typeface="Arial" pitchFamily="34" charset="-120"/>
              </a:rPr>
              <a:t>de cote par année d'âge</a:t>
            </a:r>
            <a:endParaRPr lang="en-US" sz="1200" dirty="0"/>
          </a:p>
        </p:txBody>
      </p:sp>
      <p:sp>
        <p:nvSpPr>
          <p:cNvPr id="10" name="Shape 8"/>
          <p:cNvSpPr/>
          <p:nvPr/>
        </p:nvSpPr>
        <p:spPr>
          <a:xfrm>
            <a:off x="8026400" y="1778000"/>
            <a:ext cx="3352800" cy="838200"/>
          </a:xfrm>
          <a:prstGeom prst="roundRect">
            <a:avLst>
              <a:gd name="adj" fmla="val 15152"/>
            </a:avLst>
          </a:prstGeom>
          <a:solidFill>
            <a:srgbClr val="C4A35A"/>
          </a:solidFill>
          <a:ln/>
        </p:spPr>
      </p:sp>
      <p:sp>
        <p:nvSpPr>
          <p:cNvPr id="11" name="Text 9"/>
          <p:cNvSpPr/>
          <p:nvPr/>
        </p:nvSpPr>
        <p:spPr>
          <a:xfrm>
            <a:off x="8229600" y="1930400"/>
            <a:ext cx="792361" cy="558800"/>
          </a:xfrm>
          <a:prstGeom prst="rect">
            <a:avLst/>
          </a:prstGeom>
          <a:noFill/>
          <a:ln/>
        </p:spPr>
        <p:txBody>
          <a:bodyPr wrap="none" lIns="0" tIns="0" rIns="0" bIns="0" rtlCol="0" anchor="t">
            <a:normAutofit/>
          </a:bodyPr>
          <a:lstStyle/>
          <a:p>
            <a:pPr algn="l" indent="0" marL="0">
              <a:lnSpc>
                <a:spcPts val="4200"/>
              </a:lnSpc>
              <a:buNone/>
            </a:pPr>
            <a:r>
              <a:rPr lang="en-US" sz="3000" b="1" dirty="0">
                <a:solidFill>
                  <a:srgbClr val="1B365D"/>
                </a:solidFill>
                <a:latin typeface="Arial" pitchFamily="34" charset="0"/>
                <a:ea typeface="Arial" pitchFamily="34" charset="-122"/>
                <a:cs typeface="Arial" pitchFamily="34" charset="-120"/>
              </a:rPr>
              <a:t>0,64</a:t>
            </a:r>
            <a:endParaRPr lang="en-US" sz="3000" dirty="0"/>
          </a:p>
        </p:txBody>
      </p:sp>
      <p:sp>
        <p:nvSpPr>
          <p:cNvPr id="12" name="Text 10"/>
          <p:cNvSpPr/>
          <p:nvPr/>
        </p:nvSpPr>
        <p:spPr>
          <a:xfrm>
            <a:off x="9123561" y="1999010"/>
            <a:ext cx="2114012"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365D"/>
                </a:solidFill>
                <a:latin typeface="Arial" pitchFamily="34" charset="0"/>
                <a:ea typeface="Arial" pitchFamily="34" charset="-122"/>
                <a:cs typeface="Arial" pitchFamily="34" charset="-120"/>
              </a:rPr>
              <a:t>R² en validation croisée</a:t>
            </a:r>
            <a:endParaRPr lang="en-US" sz="1200" dirty="0"/>
          </a:p>
          <a:p>
            <a:pPr algn="l" indent="0" marL="0">
              <a:lnSpc>
                <a:spcPts val="1560"/>
              </a:lnSpc>
              <a:buNone/>
            </a:pPr>
            <a:r>
              <a:rPr lang="en-US" sz="1200" dirty="0">
                <a:solidFill>
                  <a:srgbClr val="1B365D"/>
                </a:solidFill>
                <a:latin typeface="Arial" pitchFamily="34" charset="0"/>
                <a:ea typeface="Arial" pitchFamily="34" charset="-122"/>
                <a:cs typeface="Arial" pitchFamily="34" charset="-120"/>
              </a:rPr>
              <a:t>(forêt : 0,61)</a:t>
            </a:r>
            <a:endParaRPr lang="en-US" sz="1200" dirty="0"/>
          </a:p>
        </p:txBody>
      </p:sp>
      <p:sp>
        <p:nvSpPr>
          <p:cNvPr id="13" name="Shape 11"/>
          <p:cNvSpPr/>
          <p:nvPr/>
        </p:nvSpPr>
        <p:spPr>
          <a:xfrm>
            <a:off x="819150" y="2673350"/>
            <a:ext cx="10553700" cy="617141"/>
          </a:xfrm>
          <a:prstGeom prst="roundRect">
            <a:avLst>
              <a:gd name="adj" fmla="val 15434"/>
            </a:avLst>
          </a:prstGeom>
          <a:solidFill>
            <a:srgbClr val="FFFCF7"/>
          </a:solidFill>
          <a:ln w="12700">
            <a:solidFill>
              <a:srgbClr val="D4C4A8"/>
            </a:solidFill>
            <a:prstDash val="solid"/>
          </a:ln>
        </p:spPr>
      </p:sp>
      <p:sp>
        <p:nvSpPr>
          <p:cNvPr id="14" name="Text 12"/>
          <p:cNvSpPr/>
          <p:nvPr/>
        </p:nvSpPr>
        <p:spPr>
          <a:xfrm>
            <a:off x="1003300" y="2755900"/>
            <a:ext cx="104909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C6D2A"/>
                </a:solidFill>
                <a:latin typeface="Arial" pitchFamily="34" charset="0"/>
                <a:ea typeface="Arial" pitchFamily="34" charset="-122"/>
                <a:cs typeface="Arial" pitchFamily="34" charset="-120"/>
              </a:rPr>
              <a:t>Les variables de la règle</a:t>
            </a:r>
            <a:r>
              <a:rPr lang="en-US" sz="1200" dirty="0">
                <a:solidFill>
                  <a:srgbClr val="3A4A5E"/>
                </a:solidFill>
                <a:latin typeface="Arial" pitchFamily="34" charset="0"/>
                <a:ea typeface="Arial" pitchFamily="34" charset="-122"/>
                <a:cs typeface="Arial" pitchFamily="34" charset="-120"/>
              </a:rPr>
              <a:t> · </a:t>
            </a:r>
            <a:r>
              <a:rPr lang="en-US" sz="1200" b="1" dirty="0">
                <a:solidFill>
                  <a:srgbClr val="1B365D"/>
                </a:solidFill>
                <a:latin typeface="Arial" pitchFamily="34" charset="0"/>
                <a:ea typeface="Arial" pitchFamily="34" charset="-122"/>
                <a:cs typeface="Arial" pitchFamily="34" charset="-120"/>
              </a:rPr>
              <a:t>jeu, par 90 min :</a:t>
            </a:r>
            <a:r>
              <a:rPr lang="en-US" sz="1200" dirty="0">
                <a:solidFill>
                  <a:srgbClr val="3A4A5E"/>
                </a:solidFill>
                <a:latin typeface="Arial" pitchFamily="34" charset="0"/>
                <a:ea typeface="Arial" pitchFamily="34" charset="-122"/>
                <a:cs typeface="Arial" pitchFamily="34" charset="-120"/>
              </a:rPr>
              <a:t> buts · xG · passes décisives · xA · tacles · interceptions · arrêts</a:t>
            </a:r>
            <a:endParaRPr lang="en-US" sz="1200" dirty="0"/>
          </a:p>
        </p:txBody>
      </p:sp>
      <p:sp>
        <p:nvSpPr>
          <p:cNvPr id="15" name="Text 13"/>
          <p:cNvSpPr/>
          <p:nvPr/>
        </p:nvSpPr>
        <p:spPr>
          <a:xfrm>
            <a:off x="1003300" y="2994620"/>
            <a:ext cx="1049096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B365D"/>
                </a:solidFill>
                <a:latin typeface="Arial" pitchFamily="34" charset="0"/>
                <a:ea typeface="Arial" pitchFamily="34" charset="-122"/>
                <a:cs typeface="Arial" pitchFamily="34" charset="-120"/>
              </a:rPr>
              <a:t>profil :</a:t>
            </a:r>
            <a:r>
              <a:rPr lang="en-US" sz="1200" dirty="0">
                <a:solidFill>
                  <a:srgbClr val="3A4A5E"/>
                </a:solidFill>
                <a:latin typeface="Arial" pitchFamily="34" charset="0"/>
                <a:ea typeface="Arial" pitchFamily="34" charset="-122"/>
                <a:cs typeface="Arial" pitchFamily="34" charset="-120"/>
              </a:rPr>
              <a:t> âge · minutes jouées · poste (4) · championnat (5) </a:t>
            </a:r>
            <a:r>
              <a:rPr lang="en-US" sz="1200" dirty="0">
                <a:solidFill>
                  <a:srgbClr val="5E6B7B"/>
                </a:solidFill>
                <a:latin typeface="Arial" pitchFamily="34" charset="0"/>
                <a:ea typeface="Arial" pitchFamily="34" charset="-122"/>
                <a:cs typeface="Arial" pitchFamily="34" charset="-120"/>
              </a:rPr>
              <a:t>→ cible : log(cote Transfermarkt)</a:t>
            </a:r>
            <a:endParaRPr lang="en-US" sz="1200" dirty="0"/>
          </a:p>
        </p:txBody>
      </p:sp>
      <p:sp>
        <p:nvSpPr>
          <p:cNvPr id="16" name="Shape 14"/>
          <p:cNvSpPr/>
          <p:nvPr/>
        </p:nvSpPr>
        <p:spPr>
          <a:xfrm>
            <a:off x="819150" y="3333750"/>
            <a:ext cx="5524500" cy="2090390"/>
          </a:xfrm>
          <a:prstGeom prst="roundRect">
            <a:avLst>
              <a:gd name="adj" fmla="val 5772"/>
            </a:avLst>
          </a:prstGeom>
          <a:solidFill>
            <a:srgbClr val="FFFCF7"/>
          </a:solidFill>
          <a:ln w="12700">
            <a:solidFill>
              <a:srgbClr val="D4C4A8"/>
            </a:solidFill>
            <a:prstDash val="solid"/>
          </a:ln>
        </p:spPr>
      </p:sp>
      <p:sp>
        <p:nvSpPr>
          <p:cNvPr id="17" name="Text 15"/>
          <p:cNvSpPr/>
          <p:nvPr/>
        </p:nvSpPr>
        <p:spPr>
          <a:xfrm>
            <a:off x="1003300" y="3492500"/>
            <a:ext cx="531088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365D"/>
                </a:solidFill>
                <a:latin typeface="Arial" pitchFamily="34" charset="0"/>
                <a:ea typeface="Arial" pitchFamily="34" charset="-122"/>
                <a:cs typeface="Arial" pitchFamily="34" charset="-120"/>
              </a:rPr>
              <a:t>Cote médiane par championnat (M€)</a:t>
            </a:r>
            <a:endParaRPr lang="en-US" sz="1300" dirty="0"/>
          </a:p>
        </p:txBody>
      </p:sp>
      <p:sp>
        <p:nvSpPr>
          <p:cNvPr id="18" name="Text 16"/>
          <p:cNvSpPr/>
          <p:nvPr/>
        </p:nvSpPr>
        <p:spPr>
          <a:xfrm>
            <a:off x="1362323" y="3792240"/>
            <a:ext cx="234454"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365D"/>
                </a:solidFill>
                <a:latin typeface="Arial" pitchFamily="34" charset="0"/>
                <a:ea typeface="Arial" pitchFamily="34" charset="-122"/>
                <a:cs typeface="Arial" pitchFamily="34" charset="-120"/>
              </a:rPr>
              <a:t>26</a:t>
            </a:r>
            <a:endParaRPr lang="en-US" sz="1300" dirty="0"/>
          </a:p>
        </p:txBody>
      </p:sp>
      <p:sp>
        <p:nvSpPr>
          <p:cNvPr id="19" name="Shape 17"/>
          <p:cNvSpPr/>
          <p:nvPr/>
        </p:nvSpPr>
        <p:spPr>
          <a:xfrm>
            <a:off x="1174750" y="4061470"/>
            <a:ext cx="609600" cy="952500"/>
          </a:xfrm>
          <a:custGeom>
            <a:avLst/>
            <a:gdLst/>
            <a:ahLst/>
            <a:cxnLst/>
            <a:rect l="l" t="t" r="r" b="b"/>
            <a:pathLst>
              <a:path w="609600" h="952500">
                <a:moveTo>
                  <a:pt x="50800" y="0"/>
                </a:moveTo>
                <a:lnTo>
                  <a:pt x="558800" y="0"/>
                </a:lnTo>
                <a:arcTo hR="50800" wR="50800" stAng="16200000" swAng="5400000"/>
                <a:lnTo>
                  <a:pt x="609600" y="952500"/>
                </a:lnTo>
                <a:lnTo>
                  <a:pt x="0" y="952500"/>
                </a:lnTo>
                <a:lnTo>
                  <a:pt x="0" y="50800"/>
                </a:lnTo>
                <a:arcTo hR="50800" wR="50800" stAng="10800000" swAng="5400000"/>
                <a:close/>
              </a:path>
            </a:pathLst>
          </a:custGeom>
          <a:solidFill>
            <a:srgbClr val="1B365D"/>
          </a:solidFill>
          <a:ln/>
        </p:spPr>
      </p:sp>
      <p:sp>
        <p:nvSpPr>
          <p:cNvPr id="20" name="Text 18"/>
          <p:cNvSpPr/>
          <p:nvPr/>
        </p:nvSpPr>
        <p:spPr>
          <a:xfrm>
            <a:off x="1057652" y="5052070"/>
            <a:ext cx="84379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A5E"/>
                </a:solidFill>
                <a:latin typeface="Arial" pitchFamily="34" charset="0"/>
                <a:ea typeface="Arial" pitchFamily="34" charset="-122"/>
                <a:cs typeface="Arial" pitchFamily="34" charset="-120"/>
              </a:rPr>
              <a:t>Angleterre</a:t>
            </a:r>
            <a:endParaRPr lang="en-US" sz="1200" dirty="0"/>
          </a:p>
        </p:txBody>
      </p:sp>
      <p:sp>
        <p:nvSpPr>
          <p:cNvPr id="21" name="Text 19"/>
          <p:cNvSpPr/>
          <p:nvPr/>
        </p:nvSpPr>
        <p:spPr>
          <a:xfrm>
            <a:off x="2390279" y="4408190"/>
            <a:ext cx="28034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365D"/>
                </a:solidFill>
                <a:latin typeface="Arial" pitchFamily="34" charset="0"/>
                <a:ea typeface="Arial" pitchFamily="34" charset="-122"/>
                <a:cs typeface="Arial" pitchFamily="34" charset="-120"/>
              </a:rPr>
              <a:t>9,1</a:t>
            </a:r>
            <a:endParaRPr lang="en-US" sz="1300" dirty="0"/>
          </a:p>
        </p:txBody>
      </p:sp>
      <p:sp>
        <p:nvSpPr>
          <p:cNvPr id="22" name="Shape 20"/>
          <p:cNvSpPr/>
          <p:nvPr/>
        </p:nvSpPr>
        <p:spPr>
          <a:xfrm>
            <a:off x="2225675" y="4677420"/>
            <a:ext cx="609600" cy="336550"/>
          </a:xfrm>
          <a:custGeom>
            <a:avLst/>
            <a:gdLst/>
            <a:ahLst/>
            <a:cxnLst/>
            <a:rect l="l" t="t" r="r" b="b"/>
            <a:pathLst>
              <a:path w="609600" h="336550">
                <a:moveTo>
                  <a:pt x="50800" y="0"/>
                </a:moveTo>
                <a:lnTo>
                  <a:pt x="558800" y="0"/>
                </a:lnTo>
                <a:arcTo hR="50800" wR="50800" stAng="16200000" swAng="5400000"/>
                <a:lnTo>
                  <a:pt x="609600" y="336550"/>
                </a:lnTo>
                <a:lnTo>
                  <a:pt x="0" y="336550"/>
                </a:lnTo>
                <a:lnTo>
                  <a:pt x="0" y="50800"/>
                </a:lnTo>
                <a:arcTo hR="50800" wR="50800" stAng="10800000" swAng="5400000"/>
                <a:close/>
              </a:path>
            </a:pathLst>
          </a:custGeom>
          <a:solidFill>
            <a:srgbClr val="C4A35A"/>
          </a:solidFill>
          <a:ln/>
        </p:spPr>
      </p:sp>
      <p:sp>
        <p:nvSpPr>
          <p:cNvPr id="23" name="Text 21"/>
          <p:cNvSpPr/>
          <p:nvPr/>
        </p:nvSpPr>
        <p:spPr>
          <a:xfrm>
            <a:off x="2098397" y="5052070"/>
            <a:ext cx="864156"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A5E"/>
                </a:solidFill>
                <a:latin typeface="Arial" pitchFamily="34" charset="0"/>
                <a:ea typeface="Arial" pitchFamily="34" charset="-122"/>
                <a:cs typeface="Arial" pitchFamily="34" charset="-120"/>
              </a:rPr>
              <a:t>Allemagne</a:t>
            </a:r>
            <a:endParaRPr lang="en-US" sz="1200" dirty="0"/>
          </a:p>
        </p:txBody>
      </p:sp>
      <p:sp>
        <p:nvSpPr>
          <p:cNvPr id="24" name="Text 22"/>
          <p:cNvSpPr/>
          <p:nvPr/>
        </p:nvSpPr>
        <p:spPr>
          <a:xfrm>
            <a:off x="3441204" y="4446290"/>
            <a:ext cx="28034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365D"/>
                </a:solidFill>
                <a:latin typeface="Arial" pitchFamily="34" charset="0"/>
                <a:ea typeface="Arial" pitchFamily="34" charset="-122"/>
                <a:cs typeface="Arial" pitchFamily="34" charset="-120"/>
              </a:rPr>
              <a:t>8,0</a:t>
            </a:r>
            <a:endParaRPr lang="en-US" sz="1300" dirty="0"/>
          </a:p>
        </p:txBody>
      </p:sp>
      <p:sp>
        <p:nvSpPr>
          <p:cNvPr id="25" name="Shape 23"/>
          <p:cNvSpPr/>
          <p:nvPr/>
        </p:nvSpPr>
        <p:spPr>
          <a:xfrm>
            <a:off x="3276600" y="4715520"/>
            <a:ext cx="609600" cy="298450"/>
          </a:xfrm>
          <a:custGeom>
            <a:avLst/>
            <a:gdLst/>
            <a:ahLst/>
            <a:cxnLst/>
            <a:rect l="l" t="t" r="r" b="b"/>
            <a:pathLst>
              <a:path w="609600" h="298450">
                <a:moveTo>
                  <a:pt x="50800" y="0"/>
                </a:moveTo>
                <a:lnTo>
                  <a:pt x="558800" y="0"/>
                </a:lnTo>
                <a:arcTo hR="50800" wR="50800" stAng="16200000" swAng="5400000"/>
                <a:lnTo>
                  <a:pt x="609600" y="298450"/>
                </a:lnTo>
                <a:lnTo>
                  <a:pt x="0" y="298450"/>
                </a:lnTo>
                <a:lnTo>
                  <a:pt x="0" y="50800"/>
                </a:lnTo>
                <a:arcTo hR="50800" wR="50800" stAng="10800000" swAng="5400000"/>
                <a:close/>
              </a:path>
            </a:pathLst>
          </a:custGeom>
          <a:solidFill>
            <a:srgbClr val="C4A35A"/>
          </a:solidFill>
          <a:ln/>
        </p:spPr>
      </p:sp>
      <p:sp>
        <p:nvSpPr>
          <p:cNvPr id="26" name="Text 24"/>
          <p:cNvSpPr/>
          <p:nvPr/>
        </p:nvSpPr>
        <p:spPr>
          <a:xfrm>
            <a:off x="3388226" y="5052070"/>
            <a:ext cx="38629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A5E"/>
                </a:solidFill>
                <a:latin typeface="Arial" pitchFamily="34" charset="0"/>
                <a:ea typeface="Arial" pitchFamily="34" charset="-122"/>
                <a:cs typeface="Arial" pitchFamily="34" charset="-120"/>
              </a:rPr>
              <a:t>Italie</a:t>
            </a:r>
            <a:endParaRPr lang="en-US" sz="1200" dirty="0"/>
          </a:p>
        </p:txBody>
      </p:sp>
      <p:sp>
        <p:nvSpPr>
          <p:cNvPr id="27" name="Text 25"/>
          <p:cNvSpPr/>
          <p:nvPr/>
        </p:nvSpPr>
        <p:spPr>
          <a:xfrm>
            <a:off x="4492129" y="4478040"/>
            <a:ext cx="28034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365D"/>
                </a:solidFill>
                <a:latin typeface="Arial" pitchFamily="34" charset="0"/>
                <a:ea typeface="Arial" pitchFamily="34" charset="-122"/>
                <a:cs typeface="Arial" pitchFamily="34" charset="-120"/>
              </a:rPr>
              <a:t>7,2</a:t>
            </a:r>
            <a:endParaRPr lang="en-US" sz="1300" dirty="0"/>
          </a:p>
        </p:txBody>
      </p:sp>
      <p:sp>
        <p:nvSpPr>
          <p:cNvPr id="28" name="Shape 26"/>
          <p:cNvSpPr/>
          <p:nvPr/>
        </p:nvSpPr>
        <p:spPr>
          <a:xfrm>
            <a:off x="4327525" y="4747270"/>
            <a:ext cx="609600" cy="266700"/>
          </a:xfrm>
          <a:custGeom>
            <a:avLst/>
            <a:gdLst/>
            <a:ahLst/>
            <a:cxnLst/>
            <a:rect l="l" t="t" r="r" b="b"/>
            <a:pathLst>
              <a:path w="609600" h="266700">
                <a:moveTo>
                  <a:pt x="50800" y="0"/>
                </a:moveTo>
                <a:lnTo>
                  <a:pt x="558800" y="0"/>
                </a:lnTo>
                <a:arcTo hR="50800" wR="50800" stAng="16200000" swAng="5400000"/>
                <a:lnTo>
                  <a:pt x="609600" y="266700"/>
                </a:lnTo>
                <a:lnTo>
                  <a:pt x="0" y="266700"/>
                </a:lnTo>
                <a:lnTo>
                  <a:pt x="0" y="50800"/>
                </a:lnTo>
                <a:arcTo hR="50800" wR="50800" stAng="10800000" swAng="5400000"/>
                <a:close/>
              </a:path>
            </a:pathLst>
          </a:custGeom>
          <a:solidFill>
            <a:srgbClr val="C4A35A"/>
          </a:solidFill>
          <a:ln/>
        </p:spPr>
      </p:sp>
      <p:sp>
        <p:nvSpPr>
          <p:cNvPr id="29" name="Text 27"/>
          <p:cNvSpPr/>
          <p:nvPr/>
        </p:nvSpPr>
        <p:spPr>
          <a:xfrm>
            <a:off x="4347711" y="5052070"/>
            <a:ext cx="56917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A5E"/>
                </a:solidFill>
                <a:latin typeface="Arial" pitchFamily="34" charset="0"/>
                <a:ea typeface="Arial" pitchFamily="34" charset="-122"/>
                <a:cs typeface="Arial" pitchFamily="34" charset="-120"/>
              </a:rPr>
              <a:t>France</a:t>
            </a:r>
            <a:endParaRPr lang="en-US" sz="1200" dirty="0"/>
          </a:p>
        </p:txBody>
      </p:sp>
      <p:sp>
        <p:nvSpPr>
          <p:cNvPr id="30" name="Text 28"/>
          <p:cNvSpPr/>
          <p:nvPr/>
        </p:nvSpPr>
        <p:spPr>
          <a:xfrm>
            <a:off x="5543054" y="4522490"/>
            <a:ext cx="28034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1B365D"/>
                </a:solidFill>
                <a:latin typeface="Arial" pitchFamily="34" charset="0"/>
                <a:ea typeface="Arial" pitchFamily="34" charset="-122"/>
                <a:cs typeface="Arial" pitchFamily="34" charset="-120"/>
              </a:rPr>
              <a:t>6,0</a:t>
            </a:r>
            <a:endParaRPr lang="en-US" sz="1300" dirty="0"/>
          </a:p>
        </p:txBody>
      </p:sp>
      <p:sp>
        <p:nvSpPr>
          <p:cNvPr id="31" name="Shape 29"/>
          <p:cNvSpPr/>
          <p:nvPr/>
        </p:nvSpPr>
        <p:spPr>
          <a:xfrm>
            <a:off x="5378450" y="4791720"/>
            <a:ext cx="609600" cy="222250"/>
          </a:xfrm>
          <a:custGeom>
            <a:avLst/>
            <a:gdLst/>
            <a:ahLst/>
            <a:cxnLst/>
            <a:rect l="l" t="t" r="r" b="b"/>
            <a:pathLst>
              <a:path w="609600" h="222250">
                <a:moveTo>
                  <a:pt x="50800" y="0"/>
                </a:moveTo>
                <a:lnTo>
                  <a:pt x="558800" y="0"/>
                </a:lnTo>
                <a:arcTo hR="50800" wR="50800" stAng="16200000" swAng="5400000"/>
                <a:lnTo>
                  <a:pt x="609600" y="222250"/>
                </a:lnTo>
                <a:lnTo>
                  <a:pt x="0" y="222250"/>
                </a:lnTo>
                <a:lnTo>
                  <a:pt x="0" y="50800"/>
                </a:lnTo>
                <a:arcTo hR="50800" wR="50800" stAng="10800000" swAng="5400000"/>
                <a:close/>
              </a:path>
            </a:pathLst>
          </a:custGeom>
          <a:solidFill>
            <a:srgbClr val="C4A35A"/>
          </a:solidFill>
          <a:ln/>
        </p:spPr>
      </p:sp>
      <p:sp>
        <p:nvSpPr>
          <p:cNvPr id="32" name="Text 30"/>
          <p:cNvSpPr/>
          <p:nvPr/>
        </p:nvSpPr>
        <p:spPr>
          <a:xfrm>
            <a:off x="5322253" y="5052070"/>
            <a:ext cx="721995"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A4A5E"/>
                </a:solidFill>
                <a:latin typeface="Arial" pitchFamily="34" charset="0"/>
                <a:ea typeface="Arial" pitchFamily="34" charset="-122"/>
                <a:cs typeface="Arial" pitchFamily="34" charset="-120"/>
              </a:rPr>
              <a:t>Espagne</a:t>
            </a:r>
            <a:endParaRPr lang="en-US" sz="1200" dirty="0"/>
          </a:p>
        </p:txBody>
      </p:sp>
      <p:sp>
        <p:nvSpPr>
          <p:cNvPr id="33" name="Shape 31"/>
          <p:cNvSpPr/>
          <p:nvPr/>
        </p:nvSpPr>
        <p:spPr>
          <a:xfrm>
            <a:off x="6610350" y="3333750"/>
            <a:ext cx="4762500" cy="2328912"/>
          </a:xfrm>
          <a:prstGeom prst="roundRect">
            <a:avLst>
              <a:gd name="adj" fmla="val 5181"/>
            </a:avLst>
          </a:prstGeom>
          <a:solidFill>
            <a:srgbClr val="FFFCF7"/>
          </a:solidFill>
          <a:ln w="12700">
            <a:solidFill>
              <a:srgbClr val="D4C4A8"/>
            </a:solidFill>
            <a:prstDash val="solid"/>
          </a:ln>
        </p:spPr>
      </p:sp>
      <p:sp>
        <p:nvSpPr>
          <p:cNvPr id="34" name="Text 32"/>
          <p:cNvSpPr/>
          <p:nvPr/>
        </p:nvSpPr>
        <p:spPr>
          <a:xfrm>
            <a:off x="6794500" y="3492500"/>
            <a:ext cx="452602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365D"/>
                </a:solidFill>
                <a:latin typeface="Arial" pitchFamily="34" charset="0"/>
                <a:ea typeface="Arial" pitchFamily="34" charset="-122"/>
                <a:cs typeface="Arial" pitchFamily="34" charset="-120"/>
              </a:rPr>
              <a:t>Ce que la règle a appris (effet sur la cote)</a:t>
            </a:r>
            <a:endParaRPr lang="en-US" sz="1300" dirty="0"/>
          </a:p>
        </p:txBody>
      </p:sp>
      <p:sp>
        <p:nvSpPr>
          <p:cNvPr id="35" name="Text 33"/>
          <p:cNvSpPr/>
          <p:nvPr/>
        </p:nvSpPr>
        <p:spPr>
          <a:xfrm>
            <a:off x="6794500" y="3779490"/>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Premier League</a:t>
            </a:r>
            <a:endParaRPr lang="en-US" sz="1200" dirty="0"/>
          </a:p>
        </p:txBody>
      </p:sp>
      <p:sp>
        <p:nvSpPr>
          <p:cNvPr id="36" name="Shape 34"/>
          <p:cNvSpPr/>
          <p:nvPr/>
        </p:nvSpPr>
        <p:spPr>
          <a:xfrm>
            <a:off x="9378950" y="3797250"/>
            <a:ext cx="12700" cy="177800"/>
          </a:xfrm>
          <a:prstGeom prst="rect">
            <a:avLst/>
          </a:prstGeom>
          <a:solidFill>
            <a:srgbClr val="5E6B7B"/>
          </a:solidFill>
          <a:ln/>
        </p:spPr>
      </p:sp>
      <p:sp>
        <p:nvSpPr>
          <p:cNvPr id="37" name="Shape 35"/>
          <p:cNvSpPr/>
          <p:nvPr/>
        </p:nvSpPr>
        <p:spPr>
          <a:xfrm>
            <a:off x="9391650" y="3822650"/>
            <a:ext cx="819150" cy="127000"/>
          </a:xfrm>
          <a:custGeom>
            <a:avLst/>
            <a:gdLst/>
            <a:ahLst/>
            <a:cxnLst/>
            <a:rect l="l" t="t" r="r" b="b"/>
            <a:pathLst>
              <a:path w="819150" h="127000">
                <a:moveTo>
                  <a:pt x="0" y="0"/>
                </a:moveTo>
                <a:lnTo>
                  <a:pt x="781050" y="0"/>
                </a:lnTo>
                <a:arcTo hR="38100" wR="38100" stAng="16200000" swAng="5400000"/>
                <a:lnTo>
                  <a:pt x="819150" y="88900"/>
                </a:lnTo>
                <a:arcTo hR="38100" wR="38100" stAng="0" swAng="5400000"/>
                <a:lnTo>
                  <a:pt x="0" y="127000"/>
                </a:lnTo>
                <a:lnTo>
                  <a:pt x="0" y="0"/>
                </a:lnTo>
                <a:close/>
              </a:path>
            </a:pathLst>
          </a:custGeom>
          <a:solidFill>
            <a:srgbClr val="1B365D"/>
          </a:solidFill>
          <a:ln/>
        </p:spPr>
      </p:sp>
      <p:sp>
        <p:nvSpPr>
          <p:cNvPr id="38" name="Text 36"/>
          <p:cNvSpPr/>
          <p:nvPr/>
        </p:nvSpPr>
        <p:spPr>
          <a:xfrm>
            <a:off x="10210800" y="3779490"/>
            <a:ext cx="749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365D"/>
                </a:solidFill>
                <a:latin typeface="Arial" pitchFamily="34" charset="0"/>
                <a:ea typeface="Arial" pitchFamily="34" charset="-122"/>
                <a:cs typeface="Arial" pitchFamily="34" charset="-120"/>
              </a:rPr>
              <a:t>+161 %</a:t>
            </a:r>
            <a:endParaRPr lang="en-US" sz="1200" dirty="0"/>
          </a:p>
        </p:txBody>
      </p:sp>
      <p:sp>
        <p:nvSpPr>
          <p:cNvPr id="39" name="Text 37"/>
          <p:cNvSpPr/>
          <p:nvPr/>
        </p:nvSpPr>
        <p:spPr>
          <a:xfrm>
            <a:off x="6794500" y="408171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+0,1 xA / 90 min</a:t>
            </a:r>
            <a:endParaRPr lang="en-US" sz="1200" dirty="0"/>
          </a:p>
        </p:txBody>
      </p:sp>
      <p:sp>
        <p:nvSpPr>
          <p:cNvPr id="40" name="Shape 38"/>
          <p:cNvSpPr/>
          <p:nvPr/>
        </p:nvSpPr>
        <p:spPr>
          <a:xfrm>
            <a:off x="9378950" y="4099471"/>
            <a:ext cx="12700" cy="177800"/>
          </a:xfrm>
          <a:prstGeom prst="rect">
            <a:avLst/>
          </a:prstGeom>
          <a:solidFill>
            <a:srgbClr val="5E6B7B"/>
          </a:solidFill>
          <a:ln/>
        </p:spPr>
      </p:sp>
      <p:sp>
        <p:nvSpPr>
          <p:cNvPr id="41" name="Shape 39"/>
          <p:cNvSpPr/>
          <p:nvPr/>
        </p:nvSpPr>
        <p:spPr>
          <a:xfrm>
            <a:off x="9391650" y="4124871"/>
            <a:ext cx="152400" cy="127000"/>
          </a:xfrm>
          <a:custGeom>
            <a:avLst/>
            <a:gdLst/>
            <a:ahLst/>
            <a:cxnLst/>
            <a:rect l="l" t="t" r="r" b="b"/>
            <a:pathLst>
              <a:path w="152400" h="127000">
                <a:moveTo>
                  <a:pt x="0" y="0"/>
                </a:moveTo>
                <a:lnTo>
                  <a:pt x="114300" y="0"/>
                </a:lnTo>
                <a:arcTo hR="38100" wR="38100" stAng="16200000" swAng="5400000"/>
                <a:lnTo>
                  <a:pt x="152400" y="88900"/>
                </a:lnTo>
                <a:arcTo hR="38100" wR="38100" stAng="0" swAng="5400000"/>
                <a:lnTo>
                  <a:pt x="0" y="127000"/>
                </a:lnTo>
                <a:lnTo>
                  <a:pt x="0" y="0"/>
                </a:lnTo>
                <a:close/>
              </a:path>
            </a:pathLst>
          </a:custGeom>
          <a:solidFill>
            <a:srgbClr val="1B365D"/>
          </a:solidFill>
          <a:ln/>
        </p:spPr>
      </p:sp>
      <p:sp>
        <p:nvSpPr>
          <p:cNvPr id="42" name="Text 40"/>
          <p:cNvSpPr/>
          <p:nvPr/>
        </p:nvSpPr>
        <p:spPr>
          <a:xfrm>
            <a:off x="10210800" y="4081711"/>
            <a:ext cx="749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365D"/>
                </a:solidFill>
                <a:latin typeface="Arial" pitchFamily="34" charset="0"/>
                <a:ea typeface="Arial" pitchFamily="34" charset="-122"/>
                <a:cs typeface="Arial" pitchFamily="34" charset="-120"/>
              </a:rPr>
              <a:t>+30 %</a:t>
            </a:r>
            <a:endParaRPr lang="en-US" sz="1200" dirty="0"/>
          </a:p>
        </p:txBody>
      </p:sp>
      <p:sp>
        <p:nvSpPr>
          <p:cNvPr id="43" name="Text 41"/>
          <p:cNvSpPr/>
          <p:nvPr/>
        </p:nvSpPr>
        <p:spPr>
          <a:xfrm>
            <a:off x="6794500" y="438393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+500 minutes</a:t>
            </a:r>
            <a:endParaRPr lang="en-US" sz="1200" dirty="0"/>
          </a:p>
        </p:txBody>
      </p:sp>
      <p:sp>
        <p:nvSpPr>
          <p:cNvPr id="44" name="Shape 42"/>
          <p:cNvSpPr/>
          <p:nvPr/>
        </p:nvSpPr>
        <p:spPr>
          <a:xfrm>
            <a:off x="9378950" y="4401691"/>
            <a:ext cx="12700" cy="177800"/>
          </a:xfrm>
          <a:prstGeom prst="rect">
            <a:avLst/>
          </a:prstGeom>
          <a:solidFill>
            <a:srgbClr val="5E6B7B"/>
          </a:solidFill>
          <a:ln/>
        </p:spPr>
      </p:sp>
      <p:sp>
        <p:nvSpPr>
          <p:cNvPr id="45" name="Shape 43"/>
          <p:cNvSpPr/>
          <p:nvPr/>
        </p:nvSpPr>
        <p:spPr>
          <a:xfrm>
            <a:off x="9391650" y="4427091"/>
            <a:ext cx="133350" cy="127000"/>
          </a:xfrm>
          <a:custGeom>
            <a:avLst/>
            <a:gdLst/>
            <a:ahLst/>
            <a:cxnLst/>
            <a:rect l="l" t="t" r="r" b="b"/>
            <a:pathLst>
              <a:path w="133350" h="127000">
                <a:moveTo>
                  <a:pt x="0" y="0"/>
                </a:moveTo>
                <a:lnTo>
                  <a:pt x="95250" y="0"/>
                </a:lnTo>
                <a:arcTo hR="38100" wR="38100" stAng="16200000" swAng="5400000"/>
                <a:lnTo>
                  <a:pt x="133350" y="88900"/>
                </a:lnTo>
                <a:arcTo hR="38100" wR="38100" stAng="0" swAng="5400000"/>
                <a:lnTo>
                  <a:pt x="0" y="127000"/>
                </a:lnTo>
                <a:lnTo>
                  <a:pt x="0" y="0"/>
                </a:lnTo>
                <a:close/>
              </a:path>
            </a:pathLst>
          </a:custGeom>
          <a:solidFill>
            <a:srgbClr val="1B365D"/>
          </a:solidFill>
          <a:ln/>
        </p:spPr>
      </p:sp>
      <p:sp>
        <p:nvSpPr>
          <p:cNvPr id="46" name="Text 44"/>
          <p:cNvSpPr/>
          <p:nvPr/>
        </p:nvSpPr>
        <p:spPr>
          <a:xfrm>
            <a:off x="10210800" y="4383931"/>
            <a:ext cx="749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365D"/>
                </a:solidFill>
                <a:latin typeface="Arial" pitchFamily="34" charset="0"/>
                <a:ea typeface="Arial" pitchFamily="34" charset="-122"/>
                <a:cs typeface="Arial" pitchFamily="34" charset="-120"/>
              </a:rPr>
              <a:t>+26 %</a:t>
            </a:r>
            <a:endParaRPr lang="en-US" sz="1200" dirty="0"/>
          </a:p>
        </p:txBody>
      </p:sp>
      <p:sp>
        <p:nvSpPr>
          <p:cNvPr id="47" name="Text 45"/>
          <p:cNvSpPr/>
          <p:nvPr/>
        </p:nvSpPr>
        <p:spPr>
          <a:xfrm>
            <a:off x="6794500" y="468615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+0,1 but / 90 min</a:t>
            </a:r>
            <a:endParaRPr lang="en-US" sz="1200" dirty="0"/>
          </a:p>
        </p:txBody>
      </p:sp>
      <p:sp>
        <p:nvSpPr>
          <p:cNvPr id="48" name="Shape 46"/>
          <p:cNvSpPr/>
          <p:nvPr/>
        </p:nvSpPr>
        <p:spPr>
          <a:xfrm>
            <a:off x="9378950" y="4703911"/>
            <a:ext cx="12700" cy="177800"/>
          </a:xfrm>
          <a:prstGeom prst="rect">
            <a:avLst/>
          </a:prstGeom>
          <a:solidFill>
            <a:srgbClr val="5E6B7B"/>
          </a:solidFill>
          <a:ln/>
        </p:spPr>
      </p:sp>
      <p:sp>
        <p:nvSpPr>
          <p:cNvPr id="49" name="Shape 47"/>
          <p:cNvSpPr/>
          <p:nvPr/>
        </p:nvSpPr>
        <p:spPr>
          <a:xfrm>
            <a:off x="9391650" y="4729311"/>
            <a:ext cx="107950" cy="127000"/>
          </a:xfrm>
          <a:custGeom>
            <a:avLst/>
            <a:gdLst/>
            <a:ahLst/>
            <a:cxnLst/>
            <a:rect l="l" t="t" r="r" b="b"/>
            <a:pathLst>
              <a:path w="107950" h="127000">
                <a:moveTo>
                  <a:pt x="0" y="0"/>
                </a:moveTo>
                <a:lnTo>
                  <a:pt x="69850" y="0"/>
                </a:lnTo>
                <a:arcTo hR="38100" wR="38100" stAng="16200000" swAng="5400000"/>
                <a:lnTo>
                  <a:pt x="107950" y="88900"/>
                </a:lnTo>
                <a:arcTo hR="38100" wR="38100" stAng="0" swAng="5400000"/>
                <a:lnTo>
                  <a:pt x="0" y="127000"/>
                </a:lnTo>
                <a:lnTo>
                  <a:pt x="0" y="0"/>
                </a:lnTo>
                <a:close/>
              </a:path>
            </a:pathLst>
          </a:custGeom>
          <a:solidFill>
            <a:srgbClr val="1B365D"/>
          </a:solidFill>
          <a:ln/>
        </p:spPr>
      </p:sp>
      <p:sp>
        <p:nvSpPr>
          <p:cNvPr id="50" name="Text 48"/>
          <p:cNvSpPr/>
          <p:nvPr/>
        </p:nvSpPr>
        <p:spPr>
          <a:xfrm>
            <a:off x="10210800" y="4686151"/>
            <a:ext cx="749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B365D"/>
                </a:solidFill>
                <a:latin typeface="Arial" pitchFamily="34" charset="0"/>
                <a:ea typeface="Arial" pitchFamily="34" charset="-122"/>
                <a:cs typeface="Arial" pitchFamily="34" charset="-120"/>
              </a:rPr>
              <a:t>+21 %</a:t>
            </a:r>
            <a:endParaRPr lang="en-US" sz="1200" dirty="0"/>
          </a:p>
        </p:txBody>
      </p:sp>
      <p:sp>
        <p:nvSpPr>
          <p:cNvPr id="51" name="Text 49"/>
          <p:cNvSpPr/>
          <p:nvPr/>
        </p:nvSpPr>
        <p:spPr>
          <a:xfrm>
            <a:off x="6794500" y="4988371"/>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+1 an d'âge</a:t>
            </a:r>
            <a:endParaRPr lang="en-US" sz="1200" dirty="0"/>
          </a:p>
        </p:txBody>
      </p:sp>
      <p:sp>
        <p:nvSpPr>
          <p:cNvPr id="52" name="Shape 50"/>
          <p:cNvSpPr/>
          <p:nvPr/>
        </p:nvSpPr>
        <p:spPr>
          <a:xfrm>
            <a:off x="9378950" y="5006132"/>
            <a:ext cx="12700" cy="177800"/>
          </a:xfrm>
          <a:prstGeom prst="rect">
            <a:avLst/>
          </a:prstGeom>
          <a:solidFill>
            <a:srgbClr val="5E6B7B"/>
          </a:solidFill>
          <a:ln/>
        </p:spPr>
      </p:sp>
      <p:sp>
        <p:nvSpPr>
          <p:cNvPr id="53" name="Shape 51"/>
          <p:cNvSpPr/>
          <p:nvPr/>
        </p:nvSpPr>
        <p:spPr>
          <a:xfrm>
            <a:off x="9290050" y="5031532"/>
            <a:ext cx="88900" cy="127000"/>
          </a:xfrm>
          <a:custGeom>
            <a:avLst/>
            <a:gdLst/>
            <a:ahLst/>
            <a:cxnLst/>
            <a:rect l="l" t="t" r="r" b="b"/>
            <a:pathLst>
              <a:path w="88900" h="127000">
                <a:moveTo>
                  <a:pt x="38100" y="0"/>
                </a:moveTo>
                <a:lnTo>
                  <a:pt x="88900" y="0"/>
                </a:lnTo>
                <a:lnTo>
                  <a:pt x="88900" y="127000"/>
                </a:lnTo>
                <a:lnTo>
                  <a:pt x="38100" y="127000"/>
                </a:lnTo>
                <a:arcTo hR="38100" wR="38100" stAng="5400000" swAng="5400000"/>
                <a:lnTo>
                  <a:pt x="0" y="38100"/>
                </a:lnTo>
                <a:arcTo hR="38100" wR="38100" stAng="10800000" swAng="5400000"/>
                <a:close/>
              </a:path>
            </a:pathLst>
          </a:custGeom>
          <a:solidFill>
            <a:srgbClr val="C45C26"/>
          </a:solidFill>
          <a:ln/>
        </p:spPr>
      </p:sp>
      <p:sp>
        <p:nvSpPr>
          <p:cNvPr id="54" name="Text 52"/>
          <p:cNvSpPr/>
          <p:nvPr/>
        </p:nvSpPr>
        <p:spPr>
          <a:xfrm>
            <a:off x="10210800" y="4988371"/>
            <a:ext cx="749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2461B"/>
                </a:solidFill>
                <a:latin typeface="Arial" pitchFamily="34" charset="0"/>
                <a:ea typeface="Arial" pitchFamily="34" charset="-122"/>
                <a:cs typeface="Arial" pitchFamily="34" charset="-120"/>
              </a:rPr>
              <a:t>−17 %</a:t>
            </a:r>
            <a:endParaRPr lang="en-US" sz="1200" dirty="0"/>
          </a:p>
        </p:txBody>
      </p:sp>
      <p:sp>
        <p:nvSpPr>
          <p:cNvPr id="55" name="Text 53"/>
          <p:cNvSpPr/>
          <p:nvPr/>
        </p:nvSpPr>
        <p:spPr>
          <a:xfrm>
            <a:off x="6794500" y="5290592"/>
            <a:ext cx="17659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+1 arrêt / 90 min</a:t>
            </a:r>
            <a:endParaRPr lang="en-US" sz="1200" dirty="0"/>
          </a:p>
        </p:txBody>
      </p:sp>
      <p:sp>
        <p:nvSpPr>
          <p:cNvPr id="56" name="Shape 54"/>
          <p:cNvSpPr/>
          <p:nvPr/>
        </p:nvSpPr>
        <p:spPr>
          <a:xfrm>
            <a:off x="9378950" y="5308352"/>
            <a:ext cx="12700" cy="177800"/>
          </a:xfrm>
          <a:prstGeom prst="rect">
            <a:avLst/>
          </a:prstGeom>
          <a:solidFill>
            <a:srgbClr val="5E6B7B"/>
          </a:solidFill>
          <a:ln/>
        </p:spPr>
      </p:sp>
      <p:sp>
        <p:nvSpPr>
          <p:cNvPr id="57" name="Shape 55"/>
          <p:cNvSpPr/>
          <p:nvPr/>
        </p:nvSpPr>
        <p:spPr>
          <a:xfrm>
            <a:off x="9124950" y="5333752"/>
            <a:ext cx="254000" cy="127000"/>
          </a:xfrm>
          <a:custGeom>
            <a:avLst/>
            <a:gdLst/>
            <a:ahLst/>
            <a:cxnLst/>
            <a:rect l="l" t="t" r="r" b="b"/>
            <a:pathLst>
              <a:path w="254000" h="127000">
                <a:moveTo>
                  <a:pt x="38100" y="0"/>
                </a:moveTo>
                <a:lnTo>
                  <a:pt x="254000" y="0"/>
                </a:lnTo>
                <a:lnTo>
                  <a:pt x="254000" y="127000"/>
                </a:lnTo>
                <a:lnTo>
                  <a:pt x="38100" y="127000"/>
                </a:lnTo>
                <a:arcTo hR="38100" wR="38100" stAng="5400000" swAng="5400000"/>
                <a:lnTo>
                  <a:pt x="0" y="38100"/>
                </a:lnTo>
                <a:arcTo hR="38100" wR="38100" stAng="10800000" swAng="5400000"/>
                <a:close/>
              </a:path>
            </a:pathLst>
          </a:custGeom>
          <a:solidFill>
            <a:srgbClr val="C45C26"/>
          </a:solidFill>
          <a:ln/>
        </p:spPr>
      </p:sp>
      <p:sp>
        <p:nvSpPr>
          <p:cNvPr id="58" name="Text 56"/>
          <p:cNvSpPr/>
          <p:nvPr/>
        </p:nvSpPr>
        <p:spPr>
          <a:xfrm>
            <a:off x="10210800" y="5290592"/>
            <a:ext cx="749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A2461B"/>
                </a:solidFill>
                <a:latin typeface="Arial" pitchFamily="34" charset="0"/>
                <a:ea typeface="Arial" pitchFamily="34" charset="-122"/>
                <a:cs typeface="Arial" pitchFamily="34" charset="-120"/>
              </a:rPr>
              <a:t>−50 %</a:t>
            </a:r>
            <a:endParaRPr lang="en-US" sz="1200" dirty="0"/>
          </a:p>
        </p:txBody>
      </p:sp>
      <p:sp>
        <p:nvSpPr>
          <p:cNvPr id="59" name="Text 57"/>
          <p:cNvSpPr/>
          <p:nvPr/>
        </p:nvSpPr>
        <p:spPr>
          <a:xfrm>
            <a:off x="812800" y="6243340"/>
            <a:ext cx="6708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Une stat seule ne fait pas le prix : corrélation 0,3 au mieux (buts, passes décisives)</a:t>
            </a:r>
            <a:endParaRPr lang="en-US" sz="1200" dirty="0"/>
          </a:p>
        </p:txBody>
      </p:sp>
      <p:sp>
        <p:nvSpPr>
          <p:cNvPr id="60" name="Text 58"/>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8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ANALYSE 2 · CE QUE LA RÈGLE NE VOIT PAS</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Le maillot et le contrat se paient</a:t>
            </a:r>
            <a:endParaRPr lang="en-US" sz="2800" dirty="0"/>
          </a:p>
        </p:txBody>
      </p:sp>
      <p:sp>
        <p:nvSpPr>
          <p:cNvPr id="4" name="Shape 2"/>
          <p:cNvSpPr/>
          <p:nvPr/>
        </p:nvSpPr>
        <p:spPr>
          <a:xfrm>
            <a:off x="812800" y="1778000"/>
            <a:ext cx="3352800" cy="838200"/>
          </a:xfrm>
          <a:prstGeom prst="roundRect">
            <a:avLst>
              <a:gd name="adj" fmla="val 15152"/>
            </a:avLst>
          </a:prstGeom>
          <a:solidFill>
            <a:srgbClr val="1B365D"/>
          </a:solidFill>
          <a:ln/>
        </p:spPr>
      </p:sp>
      <p:sp>
        <p:nvSpPr>
          <p:cNvPr id="5" name="Text 3"/>
          <p:cNvSpPr/>
          <p:nvPr/>
        </p:nvSpPr>
        <p:spPr>
          <a:xfrm>
            <a:off x="1016000" y="1930400"/>
            <a:ext cx="802977" cy="558800"/>
          </a:xfrm>
          <a:prstGeom prst="rect">
            <a:avLst/>
          </a:prstGeom>
          <a:noFill/>
          <a:ln/>
        </p:spPr>
        <p:txBody>
          <a:bodyPr wrap="none" lIns="0" tIns="0" rIns="0" bIns="0" rtlCol="0" anchor="t">
            <a:normAutofit/>
          </a:bodyPr>
          <a:lstStyle/>
          <a:p>
            <a:pPr algn="l" indent="0" marL="0">
              <a:lnSpc>
                <a:spcPts val="4200"/>
              </a:lnSpc>
              <a:buNone/>
            </a:pPr>
            <a:r>
              <a:rPr lang="en-US" sz="3000" b="1" dirty="0">
                <a:solidFill>
                  <a:srgbClr val="C4A35A"/>
                </a:solidFill>
                <a:latin typeface="Arial" pitchFamily="34" charset="0"/>
                <a:ea typeface="Arial" pitchFamily="34" charset="-122"/>
                <a:cs typeface="Arial" pitchFamily="34" charset="-120"/>
              </a:rPr>
              <a:t>×2,8</a:t>
            </a:r>
            <a:endParaRPr lang="en-US" sz="3000" dirty="0"/>
          </a:p>
        </p:txBody>
      </p:sp>
      <p:sp>
        <p:nvSpPr>
          <p:cNvPr id="6" name="Text 4"/>
          <p:cNvSpPr/>
          <p:nvPr/>
        </p:nvSpPr>
        <p:spPr>
          <a:xfrm>
            <a:off x="1920577" y="1999010"/>
            <a:ext cx="210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7F5F2"/>
                </a:solidFill>
                <a:latin typeface="Arial" pitchFamily="34" charset="0"/>
                <a:ea typeface="Arial" pitchFamily="34" charset="-122"/>
                <a:cs typeface="Arial" pitchFamily="34" charset="-120"/>
              </a:rPr>
              <a:t>grand club, à profil égal</a:t>
            </a:r>
            <a:endParaRPr lang="en-US" sz="1200" dirty="0"/>
          </a:p>
          <a:p>
            <a:pPr algn="l" indent="0" marL="0">
              <a:lnSpc>
                <a:spcPts val="1560"/>
              </a:lnSpc>
              <a:buNone/>
            </a:pPr>
            <a:r>
              <a:rPr lang="en-US" sz="1200" b="1" dirty="0">
                <a:solidFill>
                  <a:srgbClr val="E8C97A"/>
                </a:solidFill>
                <a:latin typeface="Arial" pitchFamily="34" charset="0"/>
                <a:ea typeface="Arial" pitchFamily="34" charset="-122"/>
                <a:cs typeface="Arial" pitchFamily="34" charset="-120"/>
              </a:rPr>
              <a:t>R² : 62 % → 73 %</a:t>
            </a:r>
            <a:endParaRPr lang="en-US" sz="1200" dirty="0"/>
          </a:p>
        </p:txBody>
      </p:sp>
      <p:sp>
        <p:nvSpPr>
          <p:cNvPr id="7" name="Shape 5"/>
          <p:cNvSpPr/>
          <p:nvPr/>
        </p:nvSpPr>
        <p:spPr>
          <a:xfrm>
            <a:off x="4419600" y="1778000"/>
            <a:ext cx="3352800" cy="838200"/>
          </a:xfrm>
          <a:prstGeom prst="roundRect">
            <a:avLst>
              <a:gd name="adj" fmla="val 15152"/>
            </a:avLst>
          </a:prstGeom>
          <a:solidFill>
            <a:srgbClr val="C4A35A"/>
          </a:solidFill>
          <a:ln/>
        </p:spPr>
      </p:sp>
      <p:sp>
        <p:nvSpPr>
          <p:cNvPr id="8" name="Text 6"/>
          <p:cNvSpPr/>
          <p:nvPr/>
        </p:nvSpPr>
        <p:spPr>
          <a:xfrm>
            <a:off x="4622800" y="1930400"/>
            <a:ext cx="1141710" cy="558800"/>
          </a:xfrm>
          <a:prstGeom prst="rect">
            <a:avLst/>
          </a:prstGeom>
          <a:noFill/>
          <a:ln/>
        </p:spPr>
        <p:txBody>
          <a:bodyPr wrap="none" lIns="0" tIns="0" rIns="0" bIns="0" rtlCol="0" anchor="t">
            <a:normAutofit/>
          </a:bodyPr>
          <a:lstStyle/>
          <a:p>
            <a:pPr algn="l" indent="0" marL="0">
              <a:lnSpc>
                <a:spcPts val="4200"/>
              </a:lnSpc>
              <a:buNone/>
            </a:pPr>
            <a:r>
              <a:rPr lang="en-US" sz="3000" b="1" dirty="0">
                <a:solidFill>
                  <a:srgbClr val="1B365D"/>
                </a:solidFill>
                <a:latin typeface="Arial" pitchFamily="34" charset="0"/>
                <a:ea typeface="Arial" pitchFamily="34" charset="-122"/>
                <a:cs typeface="Arial" pitchFamily="34" charset="-120"/>
              </a:rPr>
              <a:t>+14 %</a:t>
            </a:r>
            <a:endParaRPr lang="en-US" sz="3000" dirty="0"/>
          </a:p>
        </p:txBody>
      </p:sp>
      <p:sp>
        <p:nvSpPr>
          <p:cNvPr id="9" name="Text 7"/>
          <p:cNvSpPr/>
          <p:nvPr/>
        </p:nvSpPr>
        <p:spPr>
          <a:xfrm>
            <a:off x="5866110" y="1999010"/>
            <a:ext cx="1754183"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1B365D"/>
                </a:solidFill>
                <a:latin typeface="Arial" pitchFamily="34" charset="0"/>
                <a:ea typeface="Arial" pitchFamily="34" charset="-122"/>
                <a:cs typeface="Arial" pitchFamily="34" charset="-120"/>
              </a:rPr>
              <a:t>de cote par année de contrat restant</a:t>
            </a:r>
            <a:endParaRPr lang="en-US" sz="1200" dirty="0"/>
          </a:p>
        </p:txBody>
      </p:sp>
      <p:sp>
        <p:nvSpPr>
          <p:cNvPr id="10" name="Shape 8"/>
          <p:cNvSpPr/>
          <p:nvPr/>
        </p:nvSpPr>
        <p:spPr>
          <a:xfrm>
            <a:off x="8026400" y="1778000"/>
            <a:ext cx="3352800" cy="838200"/>
          </a:xfrm>
          <a:prstGeom prst="roundRect">
            <a:avLst>
              <a:gd name="adj" fmla="val 15152"/>
            </a:avLst>
          </a:prstGeom>
          <a:solidFill>
            <a:srgbClr val="1B365D"/>
          </a:solidFill>
          <a:ln/>
        </p:spPr>
      </p:sp>
      <p:sp>
        <p:nvSpPr>
          <p:cNvPr id="11" name="Text 9"/>
          <p:cNvSpPr/>
          <p:nvPr/>
        </p:nvSpPr>
        <p:spPr>
          <a:xfrm>
            <a:off x="8229600" y="1930400"/>
            <a:ext cx="802977" cy="558800"/>
          </a:xfrm>
          <a:prstGeom prst="rect">
            <a:avLst/>
          </a:prstGeom>
          <a:noFill/>
          <a:ln/>
        </p:spPr>
        <p:txBody>
          <a:bodyPr wrap="none" lIns="0" tIns="0" rIns="0" bIns="0" rtlCol="0" anchor="t">
            <a:normAutofit/>
          </a:bodyPr>
          <a:lstStyle/>
          <a:p>
            <a:pPr algn="l" indent="0" marL="0">
              <a:lnSpc>
                <a:spcPts val="4200"/>
              </a:lnSpc>
              <a:buNone/>
            </a:pPr>
            <a:r>
              <a:rPr lang="en-US" sz="3000" b="1" dirty="0">
                <a:solidFill>
                  <a:srgbClr val="C4A35A"/>
                </a:solidFill>
                <a:latin typeface="Arial" pitchFamily="34" charset="0"/>
                <a:ea typeface="Arial" pitchFamily="34" charset="-122"/>
                <a:cs typeface="Arial" pitchFamily="34" charset="-120"/>
              </a:rPr>
              <a:t>×1,7</a:t>
            </a:r>
            <a:endParaRPr lang="en-US" sz="3000" dirty="0"/>
          </a:p>
        </p:txBody>
      </p:sp>
      <p:sp>
        <p:nvSpPr>
          <p:cNvPr id="12" name="Text 10"/>
          <p:cNvSpPr/>
          <p:nvPr/>
        </p:nvSpPr>
        <p:spPr>
          <a:xfrm>
            <a:off x="9134177" y="1999010"/>
            <a:ext cx="2103077" cy="42158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F7F5F2"/>
                </a:solidFill>
                <a:latin typeface="Arial" pitchFamily="34" charset="0"/>
                <a:ea typeface="Arial" pitchFamily="34" charset="-122"/>
                <a:cs typeface="Arial" pitchFamily="34" charset="-120"/>
              </a:rPr>
              <a:t>Instagram : tiers le plus suivi</a:t>
            </a:r>
            <a:endParaRPr lang="en-US" sz="1200" dirty="0"/>
          </a:p>
          <a:p>
            <a:pPr algn="l" indent="0" marL="0">
              <a:lnSpc>
                <a:spcPts val="1560"/>
              </a:lnSpc>
              <a:buNone/>
            </a:pPr>
            <a:r>
              <a:rPr lang="en-US" sz="1200" b="1" dirty="0">
                <a:solidFill>
                  <a:srgbClr val="E8C97A"/>
                </a:solidFill>
                <a:latin typeface="Arial" pitchFamily="34" charset="0"/>
                <a:ea typeface="Arial" pitchFamily="34" charset="-122"/>
                <a:cs typeface="Arial" pitchFamily="34" charset="-120"/>
              </a:rPr>
              <a:t>moins suivi : ×0,6</a:t>
            </a:r>
            <a:endParaRPr lang="en-US" sz="1200" dirty="0"/>
          </a:p>
        </p:txBody>
      </p:sp>
      <p:sp>
        <p:nvSpPr>
          <p:cNvPr id="13" name="Shape 11"/>
          <p:cNvSpPr/>
          <p:nvPr/>
        </p:nvSpPr>
        <p:spPr>
          <a:xfrm>
            <a:off x="819150" y="2990850"/>
            <a:ext cx="6337300" cy="2217341"/>
          </a:xfrm>
          <a:prstGeom prst="roundRect">
            <a:avLst>
              <a:gd name="adj" fmla="val 5441"/>
            </a:avLst>
          </a:prstGeom>
          <a:solidFill>
            <a:srgbClr val="FFFCF7"/>
          </a:solidFill>
          <a:ln w="12700">
            <a:solidFill>
              <a:srgbClr val="D4C4A8"/>
            </a:solidFill>
            <a:prstDash val="solid"/>
          </a:ln>
        </p:spPr>
      </p:sp>
      <p:sp>
        <p:nvSpPr>
          <p:cNvPr id="14" name="Text 12"/>
          <p:cNvSpPr/>
          <p:nvPr/>
        </p:nvSpPr>
        <p:spPr>
          <a:xfrm>
            <a:off x="1003300" y="3131790"/>
            <a:ext cx="232570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365D"/>
                </a:solidFill>
                <a:latin typeface="Arial" pitchFamily="34" charset="0"/>
                <a:ea typeface="Arial" pitchFamily="34" charset="-122"/>
                <a:cs typeface="Arial" pitchFamily="34" charset="-120"/>
              </a:rPr>
              <a:t>L'effet du contrat restant</a:t>
            </a:r>
            <a:endParaRPr lang="en-US" sz="1300" dirty="0"/>
          </a:p>
        </p:txBody>
      </p:sp>
      <p:sp>
        <p:nvSpPr>
          <p:cNvPr id="15" name="Shape 13"/>
          <p:cNvSpPr/>
          <p:nvPr/>
        </p:nvSpPr>
        <p:spPr>
          <a:xfrm>
            <a:off x="4703663" y="3167360"/>
            <a:ext cx="127000" cy="127000"/>
          </a:xfrm>
          <a:prstGeom prst="roundRect">
            <a:avLst>
              <a:gd name="adj" fmla="val 20000"/>
            </a:avLst>
          </a:prstGeom>
          <a:solidFill>
            <a:srgbClr val="C4A35A"/>
          </a:solidFill>
          <a:ln/>
        </p:spPr>
      </p:sp>
      <p:sp>
        <p:nvSpPr>
          <p:cNvPr id="16" name="Text 14"/>
          <p:cNvSpPr/>
          <p:nvPr/>
        </p:nvSpPr>
        <p:spPr>
          <a:xfrm>
            <a:off x="4932263" y="3124200"/>
            <a:ext cx="74523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cote (M€)</a:t>
            </a:r>
            <a:endParaRPr lang="en-US" sz="1200" dirty="0"/>
          </a:p>
        </p:txBody>
      </p:sp>
      <p:sp>
        <p:nvSpPr>
          <p:cNvPr id="17" name="Shape 15"/>
          <p:cNvSpPr/>
          <p:nvPr/>
        </p:nvSpPr>
        <p:spPr>
          <a:xfrm>
            <a:off x="5677495" y="3211810"/>
            <a:ext cx="177800" cy="38100"/>
          </a:xfrm>
          <a:prstGeom prst="rect">
            <a:avLst/>
          </a:prstGeom>
          <a:solidFill>
            <a:srgbClr val="1B365D"/>
          </a:solidFill>
          <a:ln/>
        </p:spPr>
      </p:sp>
      <p:sp>
        <p:nvSpPr>
          <p:cNvPr id="18" name="Text 16"/>
          <p:cNvSpPr/>
          <p:nvPr/>
        </p:nvSpPr>
        <p:spPr>
          <a:xfrm>
            <a:off x="5956895" y="3124200"/>
            <a:ext cx="119320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A4A5E"/>
                </a:solidFill>
                <a:latin typeface="Arial" pitchFamily="34" charset="0"/>
                <a:ea typeface="Arial" pitchFamily="34" charset="-122"/>
                <a:cs typeface="Arial" pitchFamily="34" charset="-120"/>
              </a:rPr>
              <a:t>marché ÷ règle</a:t>
            </a:r>
            <a:endParaRPr lang="en-US" sz="1200" dirty="0"/>
          </a:p>
        </p:txBody>
      </p:sp>
      <p:sp>
        <p:nvSpPr>
          <p:cNvPr id="19" name="Shape 17"/>
          <p:cNvSpPr/>
          <p:nvPr/>
        </p:nvSpPr>
        <p:spPr>
          <a:xfrm>
            <a:off x="1308100" y="4671020"/>
            <a:ext cx="508000" cy="127000"/>
          </a:xfrm>
          <a:custGeom>
            <a:avLst/>
            <a:gdLst/>
            <a:ahLst/>
            <a:cxnLst/>
            <a:rect l="l" t="t" r="r" b="b"/>
            <a:pathLst>
              <a:path w="508000" h="127000">
                <a:moveTo>
                  <a:pt x="38100" y="0"/>
                </a:moveTo>
                <a:lnTo>
                  <a:pt x="469900" y="0"/>
                </a:lnTo>
                <a:arcTo hR="38100" wR="38100" stAng="16200000" swAng="5400000"/>
                <a:lnTo>
                  <a:pt x="508000" y="127000"/>
                </a:lnTo>
                <a:lnTo>
                  <a:pt x="0" y="127000"/>
                </a:lnTo>
                <a:lnTo>
                  <a:pt x="0" y="38100"/>
                </a:lnTo>
                <a:arcTo hR="38100" wR="38100" stAng="10800000" swAng="5400000"/>
                <a:close/>
              </a:path>
            </a:pathLst>
          </a:custGeom>
          <a:solidFill>
            <a:srgbClr val="C4A35A"/>
          </a:solidFill>
          <a:ln/>
        </p:spPr>
      </p:sp>
      <p:sp>
        <p:nvSpPr>
          <p:cNvPr id="20" name="Shape 18"/>
          <p:cNvSpPr/>
          <p:nvPr/>
        </p:nvSpPr>
        <p:spPr>
          <a:xfrm>
            <a:off x="2425700" y="4531320"/>
            <a:ext cx="508000" cy="266700"/>
          </a:xfrm>
          <a:custGeom>
            <a:avLst/>
            <a:gdLst/>
            <a:ahLst/>
            <a:cxnLst/>
            <a:rect l="l" t="t" r="r" b="b"/>
            <a:pathLst>
              <a:path w="508000" h="266700">
                <a:moveTo>
                  <a:pt x="38100" y="0"/>
                </a:moveTo>
                <a:lnTo>
                  <a:pt x="469900" y="0"/>
                </a:lnTo>
                <a:arcTo hR="38100" wR="38100" stAng="16200000" swAng="5400000"/>
                <a:lnTo>
                  <a:pt x="508000" y="266700"/>
                </a:lnTo>
                <a:lnTo>
                  <a:pt x="0" y="266700"/>
                </a:lnTo>
                <a:lnTo>
                  <a:pt x="0" y="38100"/>
                </a:lnTo>
                <a:arcTo hR="38100" wR="38100" stAng="10800000" swAng="5400000"/>
                <a:close/>
              </a:path>
            </a:pathLst>
          </a:custGeom>
          <a:solidFill>
            <a:srgbClr val="C4A35A"/>
          </a:solidFill>
          <a:ln/>
        </p:spPr>
      </p:sp>
      <p:sp>
        <p:nvSpPr>
          <p:cNvPr id="21" name="Shape 19"/>
          <p:cNvSpPr/>
          <p:nvPr/>
        </p:nvSpPr>
        <p:spPr>
          <a:xfrm>
            <a:off x="3543300" y="4226520"/>
            <a:ext cx="508000" cy="571500"/>
          </a:xfrm>
          <a:custGeom>
            <a:avLst/>
            <a:gdLst/>
            <a:ahLst/>
            <a:cxnLst/>
            <a:rect l="l" t="t" r="r" b="b"/>
            <a:pathLst>
              <a:path w="508000" h="571500">
                <a:moveTo>
                  <a:pt x="38100" y="0"/>
                </a:moveTo>
                <a:lnTo>
                  <a:pt x="469900" y="0"/>
                </a:lnTo>
                <a:arcTo hR="38100" wR="38100" stAng="16200000" swAng="5400000"/>
                <a:lnTo>
                  <a:pt x="508000" y="571500"/>
                </a:lnTo>
                <a:lnTo>
                  <a:pt x="0" y="571500"/>
                </a:lnTo>
                <a:lnTo>
                  <a:pt x="0" y="38100"/>
                </a:lnTo>
                <a:arcTo hR="38100" wR="38100" stAng="10800000" swAng="5400000"/>
                <a:close/>
              </a:path>
            </a:pathLst>
          </a:custGeom>
          <a:solidFill>
            <a:srgbClr val="C4A35A"/>
          </a:solidFill>
          <a:ln/>
        </p:spPr>
      </p:sp>
      <p:sp>
        <p:nvSpPr>
          <p:cNvPr id="22" name="Shape 20"/>
          <p:cNvSpPr/>
          <p:nvPr/>
        </p:nvSpPr>
        <p:spPr>
          <a:xfrm>
            <a:off x="4660900" y="4150320"/>
            <a:ext cx="508000" cy="647700"/>
          </a:xfrm>
          <a:custGeom>
            <a:avLst/>
            <a:gdLst/>
            <a:ahLst/>
            <a:cxnLst/>
            <a:rect l="l" t="t" r="r" b="b"/>
            <a:pathLst>
              <a:path w="508000" h="647700">
                <a:moveTo>
                  <a:pt x="38100" y="0"/>
                </a:moveTo>
                <a:lnTo>
                  <a:pt x="469900" y="0"/>
                </a:lnTo>
                <a:arcTo hR="38100" wR="38100" stAng="16200000" swAng="5400000"/>
                <a:lnTo>
                  <a:pt x="508000" y="647700"/>
                </a:lnTo>
                <a:lnTo>
                  <a:pt x="0" y="647700"/>
                </a:lnTo>
                <a:lnTo>
                  <a:pt x="0" y="38100"/>
                </a:lnTo>
                <a:arcTo hR="38100" wR="38100" stAng="10800000" swAng="5400000"/>
                <a:close/>
              </a:path>
            </a:pathLst>
          </a:custGeom>
          <a:solidFill>
            <a:srgbClr val="C4A35A"/>
          </a:solidFill>
          <a:ln/>
        </p:spPr>
      </p:sp>
      <p:sp>
        <p:nvSpPr>
          <p:cNvPr id="23" name="Shape 21"/>
          <p:cNvSpPr/>
          <p:nvPr/>
        </p:nvSpPr>
        <p:spPr>
          <a:xfrm>
            <a:off x="5778500" y="3655020"/>
            <a:ext cx="508000" cy="1143000"/>
          </a:xfrm>
          <a:custGeom>
            <a:avLst/>
            <a:gdLst/>
            <a:ahLst/>
            <a:cxnLst/>
            <a:rect l="l" t="t" r="r" b="b"/>
            <a:pathLst>
              <a:path w="508000" h="1143000">
                <a:moveTo>
                  <a:pt x="38100" y="0"/>
                </a:moveTo>
                <a:lnTo>
                  <a:pt x="469900" y="0"/>
                </a:lnTo>
                <a:arcTo hR="38100" wR="38100" stAng="16200000" swAng="5400000"/>
                <a:lnTo>
                  <a:pt x="508000" y="1143000"/>
                </a:lnTo>
                <a:lnTo>
                  <a:pt x="0" y="1143000"/>
                </a:lnTo>
                <a:lnTo>
                  <a:pt x="0" y="38100"/>
                </a:lnTo>
                <a:arcTo hR="38100" wR="38100" stAng="10800000" swAng="5400000"/>
                <a:close/>
              </a:path>
            </a:pathLst>
          </a:custGeom>
          <a:solidFill>
            <a:srgbClr val="C4A35A"/>
          </a:solidFill>
          <a:ln/>
        </p:spPr>
      </p:sp>
      <p:pic>
        <p:nvPicPr>
          <p:cNvPr id="24" name="Image 0" descr="Courbe du multiplicateur marché sur règle selon le contrat restant, de 0,87 à 1,44, avec la ligne de référence 1">    </p:cNvPr>
          <p:cNvPicPr>
            <a:picLocks noChangeAspect="1"/>
          </p:cNvPicPr>
          <p:nvPr/>
        </p:nvPicPr>
        <p:blipFill>
          <a:blip r:embed="rId1"/>
          <a:srcRect l="0" r="0" t="0" b="0"/>
          <a:stretch/>
        </p:blipFill>
        <p:spPr>
          <a:xfrm>
            <a:off x="1003300" y="3401020"/>
            <a:ext cx="5588000" cy="1397000"/>
          </a:xfrm>
          <a:prstGeom prst="rect">
            <a:avLst/>
          </a:prstGeom>
        </p:spPr>
      </p:pic>
      <p:sp>
        <p:nvSpPr>
          <p:cNvPr id="25" name="Text 22"/>
          <p:cNvSpPr/>
          <p:nvPr/>
        </p:nvSpPr>
        <p:spPr>
          <a:xfrm>
            <a:off x="1155700" y="3401020"/>
            <a:ext cx="2667000" cy="289520"/>
          </a:xfrm>
          <a:prstGeom prst="roundRect">
            <a:avLst>
              <a:gd name="adj" fmla="val 26319"/>
            </a:avLst>
          </a:prstGeom>
          <a:solidFill>
            <a:srgbClr val="1B365D"/>
          </a:solidFill>
          <a:ln/>
        </p:spPr>
        <p:txBody>
          <a:bodyPr wrap="square" lIns="79282" tIns="15782" rIns="5368" bIns="0" rtlCol="0" anchor="t">
            <a:normAutofit/>
          </a:bodyPr>
          <a:lstStyle/>
          <a:p>
            <a:pPr algn="l" indent="0" marL="0">
              <a:lnSpc>
                <a:spcPts val="1680"/>
              </a:lnSpc>
              <a:buNone/>
            </a:pPr>
            <a:r>
              <a:rPr lang="en-US" sz="1200" b="1" dirty="0">
                <a:solidFill>
                  <a:srgbClr val="E8C97A"/>
                </a:solidFill>
                <a:latin typeface="Arial" pitchFamily="34" charset="0"/>
                <a:ea typeface="Arial" pitchFamily="34" charset="-122"/>
                <a:cs typeface="Arial" pitchFamily="34" charset="-120"/>
              </a:rPr>
              <a:t>≈ +14 % de cote par an de contrat</a:t>
            </a:r>
            <a:endParaRPr lang="en-US" sz="1200" dirty="0"/>
          </a:p>
        </p:txBody>
      </p:sp>
      <p:sp>
        <p:nvSpPr>
          <p:cNvPr id="26" name="Text 23"/>
          <p:cNvSpPr/>
          <p:nvPr/>
        </p:nvSpPr>
        <p:spPr>
          <a:xfrm>
            <a:off x="977900" y="4861520"/>
            <a:ext cx="1168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365D"/>
                </a:solidFill>
                <a:latin typeface="Arial" pitchFamily="34" charset="0"/>
                <a:ea typeface="Arial" pitchFamily="34" charset="-122"/>
                <a:cs typeface="Arial" pitchFamily="34" charset="-120"/>
              </a:rPr>
              <a:t>0 an</a:t>
            </a:r>
            <a:r>
              <a:rPr lang="en-US" sz="1200" dirty="0">
                <a:solidFill>
                  <a:srgbClr val="3A4A5E"/>
                </a:solidFill>
                <a:latin typeface="Arial" pitchFamily="34" charset="0"/>
                <a:ea typeface="Arial" pitchFamily="34" charset="-122"/>
                <a:cs typeface="Arial" pitchFamily="34" charset="-120"/>
              </a:rPr>
              <a:t> · ×0,87</a:t>
            </a:r>
            <a:endParaRPr lang="en-US" sz="1200" dirty="0"/>
          </a:p>
        </p:txBody>
      </p:sp>
      <p:sp>
        <p:nvSpPr>
          <p:cNvPr id="27" name="Text 24"/>
          <p:cNvSpPr/>
          <p:nvPr/>
        </p:nvSpPr>
        <p:spPr>
          <a:xfrm>
            <a:off x="2095500" y="4861520"/>
            <a:ext cx="1168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365D"/>
                </a:solidFill>
                <a:latin typeface="Arial" pitchFamily="34" charset="0"/>
                <a:ea typeface="Arial" pitchFamily="34" charset="-122"/>
                <a:cs typeface="Arial" pitchFamily="34" charset="-120"/>
              </a:rPr>
              <a:t>1 an</a:t>
            </a:r>
            <a:r>
              <a:rPr lang="en-US" sz="1200" dirty="0">
                <a:solidFill>
                  <a:srgbClr val="3A4A5E"/>
                </a:solidFill>
                <a:latin typeface="Arial" pitchFamily="34" charset="0"/>
                <a:ea typeface="Arial" pitchFamily="34" charset="-122"/>
                <a:cs typeface="Arial" pitchFamily="34" charset="-120"/>
              </a:rPr>
              <a:t> · ×0,97</a:t>
            </a:r>
            <a:endParaRPr lang="en-US" sz="1200" dirty="0"/>
          </a:p>
        </p:txBody>
      </p:sp>
      <p:sp>
        <p:nvSpPr>
          <p:cNvPr id="28" name="Text 25"/>
          <p:cNvSpPr/>
          <p:nvPr/>
        </p:nvSpPr>
        <p:spPr>
          <a:xfrm>
            <a:off x="3213100" y="4861520"/>
            <a:ext cx="1168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365D"/>
                </a:solidFill>
                <a:latin typeface="Arial" pitchFamily="34" charset="0"/>
                <a:ea typeface="Arial" pitchFamily="34" charset="-122"/>
                <a:cs typeface="Arial" pitchFamily="34" charset="-120"/>
              </a:rPr>
              <a:t>2 ans</a:t>
            </a:r>
            <a:r>
              <a:rPr lang="en-US" sz="1200" dirty="0">
                <a:solidFill>
                  <a:srgbClr val="3A4A5E"/>
                </a:solidFill>
                <a:latin typeface="Arial" pitchFamily="34" charset="0"/>
                <a:ea typeface="Arial" pitchFamily="34" charset="-122"/>
                <a:cs typeface="Arial" pitchFamily="34" charset="-120"/>
              </a:rPr>
              <a:t> · ×1,25</a:t>
            </a:r>
            <a:endParaRPr lang="en-US" sz="1200" dirty="0"/>
          </a:p>
        </p:txBody>
      </p:sp>
      <p:sp>
        <p:nvSpPr>
          <p:cNvPr id="29" name="Text 26"/>
          <p:cNvSpPr/>
          <p:nvPr/>
        </p:nvSpPr>
        <p:spPr>
          <a:xfrm>
            <a:off x="4330700" y="4861520"/>
            <a:ext cx="1168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365D"/>
                </a:solidFill>
                <a:latin typeface="Arial" pitchFamily="34" charset="0"/>
                <a:ea typeface="Arial" pitchFamily="34" charset="-122"/>
                <a:cs typeface="Arial" pitchFamily="34" charset="-120"/>
              </a:rPr>
              <a:t>3 ans</a:t>
            </a:r>
            <a:r>
              <a:rPr lang="en-US" sz="1200" dirty="0">
                <a:solidFill>
                  <a:srgbClr val="3A4A5E"/>
                </a:solidFill>
                <a:latin typeface="Arial" pitchFamily="34" charset="0"/>
                <a:ea typeface="Arial" pitchFamily="34" charset="-122"/>
                <a:cs typeface="Arial" pitchFamily="34" charset="-120"/>
              </a:rPr>
              <a:t> · ×1,18</a:t>
            </a:r>
            <a:endParaRPr lang="en-US" sz="1200" dirty="0"/>
          </a:p>
        </p:txBody>
      </p:sp>
      <p:sp>
        <p:nvSpPr>
          <p:cNvPr id="30" name="Text 27"/>
          <p:cNvSpPr/>
          <p:nvPr/>
        </p:nvSpPr>
        <p:spPr>
          <a:xfrm>
            <a:off x="5448300" y="4861520"/>
            <a:ext cx="11684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B365D"/>
                </a:solidFill>
                <a:latin typeface="Arial" pitchFamily="34" charset="0"/>
                <a:ea typeface="Arial" pitchFamily="34" charset="-122"/>
                <a:cs typeface="Arial" pitchFamily="34" charset="-120"/>
              </a:rPr>
              <a:t>4 ans</a:t>
            </a:r>
            <a:r>
              <a:rPr lang="en-US" sz="1200" dirty="0">
                <a:solidFill>
                  <a:srgbClr val="3A4A5E"/>
                </a:solidFill>
                <a:latin typeface="Arial" pitchFamily="34" charset="0"/>
                <a:ea typeface="Arial" pitchFamily="34" charset="-122"/>
                <a:cs typeface="Arial" pitchFamily="34" charset="-120"/>
              </a:rPr>
              <a:t> · ×1,44</a:t>
            </a:r>
            <a:endParaRPr lang="en-US" sz="1200" dirty="0"/>
          </a:p>
        </p:txBody>
      </p:sp>
      <p:sp>
        <p:nvSpPr>
          <p:cNvPr id="31" name="Shape 28"/>
          <p:cNvSpPr/>
          <p:nvPr/>
        </p:nvSpPr>
        <p:spPr>
          <a:xfrm>
            <a:off x="7423150" y="2990850"/>
            <a:ext cx="3949700" cy="2465983"/>
          </a:xfrm>
          <a:prstGeom prst="roundRect">
            <a:avLst>
              <a:gd name="adj" fmla="val 4893"/>
            </a:avLst>
          </a:prstGeom>
          <a:solidFill>
            <a:srgbClr val="FFFCF7"/>
          </a:solidFill>
          <a:ln w="12700">
            <a:solidFill>
              <a:srgbClr val="D4C4A8"/>
            </a:solidFill>
            <a:prstDash val="solid"/>
          </a:ln>
        </p:spPr>
      </p:sp>
      <p:sp>
        <p:nvSpPr>
          <p:cNvPr id="32" name="Text 29"/>
          <p:cNvSpPr/>
          <p:nvPr/>
        </p:nvSpPr>
        <p:spPr>
          <a:xfrm>
            <a:off x="7607300" y="3124200"/>
            <a:ext cx="368884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B365D"/>
                </a:solidFill>
                <a:latin typeface="Arial" pitchFamily="34" charset="0"/>
                <a:ea typeface="Arial" pitchFamily="34" charset="-122"/>
                <a:cs typeface="Arial" pitchFamily="34" charset="-120"/>
              </a:rPr>
              <a:t>Les plus payés au-dessus de la règle</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620000" y="3398490"/>
          <a:ext cx="3594100" cy="1663402"/>
        </p:xfrm>
        <a:graphic>
          <a:graphicData uri="http://schemas.openxmlformats.org/drawingml/2006/table">
            <a:tbl>
              <a:tblPr/>
              <a:tblGrid>
                <a:gridCol w="1581404"/>
                <a:gridCol w="1078230"/>
                <a:gridCol w="934466"/>
              </a:tblGrid>
              <a:tr h="332680">
                <a:tc>
                  <a:txBody>
                    <a:bodyPr/>
                    <a:lstStyle/>
                    <a:p>
                      <a:pPr indent="0" marL="0">
                        <a:lnSpc>
                          <a:spcPts val="1680"/>
                        </a:lnSpc>
                        <a:buNone/>
                      </a:pPr>
                      <a:r>
                        <a:rPr lang="en-US" sz="1200" b="1" dirty="0">
                          <a:solidFill>
                            <a:srgbClr val="F7F5F2"/>
                          </a:solidFill>
                          <a:latin typeface="Arial" pitchFamily="34" charset="0"/>
                          <a:ea typeface="Arial" pitchFamily="34" charset="-122"/>
                          <a:cs typeface="Arial" pitchFamily="34" charset="-120"/>
                        </a:rPr>
                        <a:t>Joueur</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192F4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192F4D"/>
                      </a:solidFill>
                      <a:prstDash val="solid"/>
                      <a:round/>
                      <a:headEnd type="none" w="med" len="med"/>
                      <a:tailEnd type="none" w="med" len="med"/>
                    </a:lnB>
                    <a:solidFill>
                      <a:srgbClr val="1B365D"/>
                    </a:solidFill>
                  </a:tcPr>
                </a:tc>
                <a:tc>
                  <a:txBody>
                    <a:bodyPr/>
                    <a:lstStyle/>
                    <a:p>
                      <a:pPr indent="0" marL="0">
                        <a:lnSpc>
                          <a:spcPts val="1680"/>
                        </a:lnSpc>
                        <a:buNone/>
                      </a:pPr>
                      <a:r>
                        <a:rPr lang="en-US" sz="1200" b="1" dirty="0">
                          <a:solidFill>
                            <a:srgbClr val="F7F5F2"/>
                          </a:solidFill>
                          <a:latin typeface="Arial" pitchFamily="34" charset="0"/>
                          <a:ea typeface="Arial" pitchFamily="34" charset="-122"/>
                          <a:cs typeface="Arial" pitchFamily="34" charset="-120"/>
                        </a:rPr>
                        <a:t>Club</a:t>
                      </a:r>
                      <a:endParaRPr lang="en-US" sz="1200" dirty="0">
                        <a:latin typeface="Arial" charset="0"/>
                        <a:ea typeface="Arial" charset="0"/>
                        <a:cs typeface="Arial" charset="0"/>
                      </a:endParaRPr>
                    </a:p>
                  </a:txBody>
                  <a:tcPr marL="53340" marR="53340" marT="53340" marB="53340" anchor="t">
                    <a:lnL w="12700" cap="flat" cmpd="sng" algn="ctr">
                      <a:solidFill>
                        <a:srgbClr val="192F4D"/>
                      </a:solidFill>
                      <a:prstDash val="solid"/>
                      <a:round/>
                      <a:headEnd type="none" w="med" len="med"/>
                      <a:tailEnd type="none" w="med" len="med"/>
                    </a:lnL>
                    <a:lnR w="12700" cap="flat" cmpd="sng" algn="ctr">
                      <a:solidFill>
                        <a:srgbClr val="192F4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192F4D"/>
                      </a:solidFill>
                      <a:prstDash val="solid"/>
                      <a:round/>
                      <a:headEnd type="none" w="med" len="med"/>
                      <a:tailEnd type="none" w="med" len="med"/>
                    </a:lnB>
                    <a:solidFill>
                      <a:srgbClr val="1B365D"/>
                    </a:solidFill>
                  </a:tcPr>
                </a:tc>
                <a:tc>
                  <a:txBody>
                    <a:bodyPr/>
                    <a:lstStyle/>
                    <a:p>
                      <a:pPr algn="r" indent="0" marL="0">
                        <a:lnSpc>
                          <a:spcPts val="1680"/>
                        </a:lnSpc>
                        <a:buNone/>
                      </a:pPr>
                      <a:r>
                        <a:rPr lang="en-US" sz="1200" b="1" dirty="0">
                          <a:solidFill>
                            <a:srgbClr val="F7F5F2"/>
                          </a:solidFill>
                          <a:latin typeface="Arial" pitchFamily="34" charset="0"/>
                          <a:ea typeface="Arial" pitchFamily="34" charset="-122"/>
                          <a:cs typeface="Arial" pitchFamily="34" charset="-120"/>
                        </a:rPr>
                        <a:t>× règle</a:t>
                      </a:r>
                      <a:endParaRPr lang="en-US" sz="1200" dirty="0">
                        <a:latin typeface="Arial" charset="0"/>
                        <a:ea typeface="Arial" charset="0"/>
                        <a:cs typeface="Arial" charset="0"/>
                      </a:endParaRPr>
                    </a:p>
                  </a:txBody>
                  <a:tcPr marL="53340" marR="53340" marT="53340" marB="53340" anchor="t">
                    <a:lnL w="12700" cap="flat" cmpd="sng" algn="ctr">
                      <a:solidFill>
                        <a:srgbClr val="192F4D"/>
                      </a:solidFill>
                      <a:prstDash val="solid"/>
                      <a:round/>
                      <a:headEnd type="none" w="med" len="med"/>
                      <a:tailEnd type="none" w="med" len="med"/>
                    </a:lnL>
                    <a:lnR w="12700" cap="flat" cmpd="sng" algn="ctr">
                      <a:solidFill>
                        <a:srgbClr val="192F4D"/>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192F4D"/>
                      </a:solidFill>
                      <a:prstDash val="solid"/>
                      <a:round/>
                      <a:headEnd type="none" w="med" len="med"/>
                      <a:tailEnd type="none" w="med" len="med"/>
                    </a:lnB>
                    <a:solidFill>
                      <a:srgbClr val="1B365D"/>
                    </a:solidFill>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Upamecano</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Bayern</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×12,0</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192F4D"/>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Vitinha</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PSG</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×10,6</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Pacho</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PSG</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×10,4</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r h="332680">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Hakimi</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indent="0" marL="0">
                        <a:lnSpc>
                          <a:spcPts val="1680"/>
                        </a:lnSpc>
                        <a:buNone/>
                      </a:pPr>
                      <a:r>
                        <a:rPr lang="en-US" sz="1200" dirty="0">
                          <a:solidFill>
                            <a:srgbClr val="1B365D"/>
                          </a:solidFill>
                          <a:latin typeface="Arial" pitchFamily="34" charset="0"/>
                          <a:ea typeface="Arial" pitchFamily="34" charset="-122"/>
                          <a:cs typeface="Arial" pitchFamily="34" charset="-120"/>
                        </a:rPr>
                        <a:t>PSG</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c>
                  <a:txBody>
                    <a:bodyPr/>
                    <a:lstStyle/>
                    <a:p>
                      <a:pPr algn="r" indent="0" marL="0">
                        <a:lnSpc>
                          <a:spcPts val="1680"/>
                        </a:lnSpc>
                        <a:buNone/>
                      </a:pPr>
                      <a:r>
                        <a:rPr lang="en-US" sz="1200" dirty="0">
                          <a:solidFill>
                            <a:srgbClr val="1B365D"/>
                          </a:solidFill>
                          <a:latin typeface="Arial" pitchFamily="34" charset="0"/>
                          <a:ea typeface="Arial" pitchFamily="34" charset="-122"/>
                          <a:cs typeface="Arial" pitchFamily="34" charset="-120"/>
                        </a:rPr>
                        <a:t>×9,9</a:t>
                      </a:r>
                      <a:endParaRPr lang="en-US" sz="1200" dirty="0">
                        <a:latin typeface="Arial" charset="0"/>
                        <a:ea typeface="Arial" charset="0"/>
                        <a:cs typeface="Arial" charset="0"/>
                      </a:endParaRPr>
                    </a:p>
                  </a:txBody>
                  <a:tcPr marL="53340" marR="53340" marT="53340" marB="53340" anchor="t">
                    <a:lnL w="12700" cap="flat" cmpd="sng" algn="ctr">
                      <a:solidFill>
                        <a:srgbClr val="CBC9C5"/>
                      </a:solidFill>
                      <a:prstDash val="solid"/>
                      <a:round/>
                      <a:headEnd type="none" w="med" len="med"/>
                      <a:tailEnd type="none" w="med" len="med"/>
                    </a:lnL>
                    <a:lnR w="12700" cap="flat" cmpd="sng" algn="ctr">
                      <a:solidFill>
                        <a:srgbClr val="CBC9C5"/>
                      </a:solidFill>
                      <a:prstDash val="solid"/>
                      <a:round/>
                      <a:headEnd type="none" w="med" len="med"/>
                      <a:tailEnd type="none" w="med" len="med"/>
                    </a:lnR>
                    <a:lnT w="12700" cap="flat" cmpd="sng" algn="ctr">
                      <a:solidFill>
                        <a:srgbClr val="CBC9C5"/>
                      </a:solidFill>
                      <a:prstDash val="solid"/>
                      <a:round/>
                      <a:headEnd type="none" w="med" len="med"/>
                      <a:tailEnd type="none" w="med" len="med"/>
                    </a:lnT>
                    <a:lnB w="12700" cap="flat" cmpd="sng" algn="ctr">
                      <a:solidFill>
                        <a:srgbClr val="CBC9C5"/>
                      </a:solidFill>
                      <a:prstDash val="solid"/>
                      <a:round/>
                      <a:headEnd type="none" w="med" len="med"/>
                      <a:tailEnd type="none" w="med" len="med"/>
                    </a:lnB>
                  </a:tcPr>
                </a:tc>
              </a:tr>
            </a:tbl>
          </a:graphicData>
        </a:graphic>
      </p:graphicFrame>
      <p:sp>
        <p:nvSpPr>
          <p:cNvPr id="34" name="Text 30"/>
          <p:cNvSpPr/>
          <p:nvPr/>
        </p:nvSpPr>
        <p:spPr>
          <a:xfrm>
            <a:off x="7607300" y="5125393"/>
            <a:ext cx="3688842"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3A4A5E"/>
                </a:solidFill>
                <a:latin typeface="Arial" pitchFamily="34" charset="0"/>
                <a:ea typeface="Arial" pitchFamily="34" charset="-122"/>
                <a:cs typeface="Arial" pitchFamily="34" charset="-120"/>
              </a:rPr>
              <a:t>11 des 12 premiers jouent dans un grand club.</a:t>
            </a:r>
            <a:endParaRPr lang="en-US" sz="1200" dirty="0"/>
          </a:p>
        </p:txBody>
      </p:sp>
      <p:sp>
        <p:nvSpPr>
          <p:cNvPr id="35" name="Text 31"/>
          <p:cNvSpPr/>
          <p:nvPr/>
        </p:nvSpPr>
        <p:spPr>
          <a:xfrm>
            <a:off x="812800" y="6243340"/>
            <a:ext cx="828526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Pointillé orange : ×1 = conforme à la règle · R² en validation croisée, joueurs dont on connaît le contrat</a:t>
            </a:r>
            <a:endParaRPr lang="en-US" sz="1200" dirty="0"/>
          </a:p>
        </p:txBody>
      </p:sp>
      <p:sp>
        <p:nvSpPr>
          <p:cNvPr id="36" name="Text 32"/>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65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B365D"/>
              </a:gs>
              <a:gs pos="100000">
                <a:srgbClr val="14263F"/>
              </a:gs>
            </a:gsLst>
            <a:lin ang="2700000" scaled="0"/>
          </a:gradFill>
          <a:ln/>
        </p:spPr>
      </p:sp>
      <p:sp>
        <p:nvSpPr>
          <p:cNvPr id="3" name="Text 1"/>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4A35A"/>
                </a:solidFill>
                <a:latin typeface="Arial" pitchFamily="34" charset="0"/>
                <a:ea typeface="Arial" pitchFamily="34" charset="-122"/>
                <a:cs typeface="Arial" pitchFamily="34" charset="-120"/>
              </a:rPr>
              <a:t>POWER BI</a:t>
            </a:r>
            <a:endParaRPr lang="en-US" sz="1200" dirty="0"/>
          </a:p>
        </p:txBody>
      </p:sp>
      <p:sp>
        <p:nvSpPr>
          <p:cNvPr id="4" name="Text 2"/>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7F5F2"/>
                </a:solidFill>
                <a:latin typeface="Arial" pitchFamily="34" charset="0"/>
                <a:ea typeface="Arial" pitchFamily="34" charset="-122"/>
                <a:cs typeface="Arial" pitchFamily="34" charset="-120"/>
              </a:rPr>
              <a:t>Un rapport de 7 pages pour explorer chaque joueur</a:t>
            </a:r>
            <a:endParaRPr lang="en-US" sz="2800" dirty="0"/>
          </a:p>
        </p:txBody>
      </p:sp>
      <p:sp>
        <p:nvSpPr>
          <p:cNvPr id="5" name="Shape 3"/>
          <p:cNvSpPr/>
          <p:nvPr/>
        </p:nvSpPr>
        <p:spPr>
          <a:xfrm>
            <a:off x="812800" y="1778000"/>
            <a:ext cx="7112000" cy="4038600"/>
          </a:xfrm>
          <a:prstGeom prst="roundRect">
            <a:avLst>
              <a:gd name="adj" fmla="val 3145"/>
            </a:avLst>
          </a:prstGeom>
          <a:solidFill>
            <a:srgbClr val="EDE8E0"/>
          </a:solidFill>
          <a:ln/>
          <a:effectLst>
            <a:outerShdw sx="100000" sy="100000" kx="0" ky="0" algn="bl" rotWithShape="0" blurRad="254000" dist="101600" dir="5400000">
              <a:srgbClr val="000000">
                <a:alpha val="35000"/>
              </a:srgbClr>
            </a:outerShdw>
          </a:effectLst>
        </p:spPr>
      </p:sp>
      <p:pic>
        <p:nvPicPr>
          <p:cNvPr id="6" name="Image 0" descr="Page Club et contrat du rapport Power BI : multiplicateur grand club, effet du contrat, nuage salaire et cote">    </p:cNvPr>
          <p:cNvPicPr>
            <a:picLocks noChangeAspect="1"/>
          </p:cNvPicPr>
          <p:nvPr/>
        </p:nvPicPr>
        <p:blipFill>
          <a:blip r:embed="rId1"/>
          <a:srcRect l="-233" r="-233" t="0" b="0"/>
          <a:stretch/>
        </p:blipFill>
        <p:spPr>
          <a:xfrm>
            <a:off x="838200" y="1803400"/>
            <a:ext cx="7061200" cy="3987800"/>
          </a:xfrm>
          <a:prstGeom prst="roundRect">
            <a:avLst>
              <a:gd name="adj" fmla="val 2548"/>
            </a:avLst>
          </a:prstGeom>
        </p:spPr>
      </p:pic>
      <p:sp>
        <p:nvSpPr>
          <p:cNvPr id="7" name="Shape 4"/>
          <p:cNvSpPr/>
          <p:nvPr/>
        </p:nvSpPr>
        <p:spPr>
          <a:xfrm>
            <a:off x="825500" y="1790700"/>
            <a:ext cx="7086600" cy="4013200"/>
          </a:xfrm>
          <a:prstGeom prst="roundRect">
            <a:avLst>
              <a:gd name="adj" fmla="val 2848"/>
            </a:avLst>
          </a:prstGeom>
          <a:noFill/>
          <a:ln w="25400">
            <a:solidFill>
              <a:srgbClr val="C4A35A"/>
            </a:solidFill>
            <a:prstDash val="solid"/>
          </a:ln>
        </p:spPr>
      </p:sp>
      <p:sp>
        <p:nvSpPr>
          <p:cNvPr id="8" name="Shape 5"/>
          <p:cNvSpPr/>
          <p:nvPr/>
        </p:nvSpPr>
        <p:spPr>
          <a:xfrm>
            <a:off x="8229600" y="1778000"/>
            <a:ext cx="3149600" cy="558750"/>
          </a:xfrm>
          <a:prstGeom prst="roundRect">
            <a:avLst>
              <a:gd name="adj" fmla="val 15911"/>
            </a:avLst>
          </a:prstGeom>
          <a:solidFill>
            <a:srgbClr val="F7F5F2">
              <a:alpha val="8000"/>
            </a:srgbClr>
          </a:solidFill>
          <a:ln/>
        </p:spPr>
      </p:sp>
      <p:sp>
        <p:nvSpPr>
          <p:cNvPr id="9" name="Text 6"/>
          <p:cNvSpPr/>
          <p:nvPr/>
        </p:nvSpPr>
        <p:spPr>
          <a:xfrm>
            <a:off x="8356600" y="1941810"/>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A35A"/>
                </a:solidFill>
                <a:latin typeface="Arial" pitchFamily="34" charset="0"/>
                <a:ea typeface="Arial" pitchFamily="34" charset="-122"/>
                <a:cs typeface="Arial" pitchFamily="34" charset="-120"/>
              </a:rPr>
              <a:t>1</a:t>
            </a:r>
            <a:endParaRPr lang="en-US" sz="1300" dirty="0"/>
          </a:p>
        </p:txBody>
      </p:sp>
      <p:sp>
        <p:nvSpPr>
          <p:cNvPr id="10" name="Text 7"/>
          <p:cNvSpPr/>
          <p:nvPr/>
        </p:nvSpPr>
        <p:spPr>
          <a:xfrm>
            <a:off x="8712200" y="1828800"/>
            <a:ext cx="172496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5F2"/>
                </a:solidFill>
                <a:latin typeface="Arial" pitchFamily="34" charset="0"/>
                <a:ea typeface="Arial" pitchFamily="34" charset="-122"/>
                <a:cs typeface="Arial" pitchFamily="34" charset="-120"/>
              </a:rPr>
              <a:t>Cadre</a:t>
            </a:r>
            <a:endParaRPr lang="en-US" sz="1300" dirty="0"/>
          </a:p>
        </p:txBody>
      </p:sp>
      <p:sp>
        <p:nvSpPr>
          <p:cNvPr id="11" name="Text 8"/>
          <p:cNvSpPr/>
          <p:nvPr/>
        </p:nvSpPr>
        <p:spPr>
          <a:xfrm>
            <a:off x="8712200" y="2072630"/>
            <a:ext cx="200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Périmètre et chiffres clés</a:t>
            </a:r>
            <a:endParaRPr lang="en-US" sz="1200" dirty="0"/>
          </a:p>
        </p:txBody>
      </p:sp>
      <p:sp>
        <p:nvSpPr>
          <p:cNvPr id="12" name="Shape 9"/>
          <p:cNvSpPr/>
          <p:nvPr/>
        </p:nvSpPr>
        <p:spPr>
          <a:xfrm>
            <a:off x="8229600" y="2387550"/>
            <a:ext cx="3149600" cy="558750"/>
          </a:xfrm>
          <a:prstGeom prst="roundRect">
            <a:avLst>
              <a:gd name="adj" fmla="val 15911"/>
            </a:avLst>
          </a:prstGeom>
          <a:solidFill>
            <a:srgbClr val="F7F5F2">
              <a:alpha val="8000"/>
            </a:srgbClr>
          </a:solidFill>
          <a:ln/>
        </p:spPr>
      </p:sp>
      <p:sp>
        <p:nvSpPr>
          <p:cNvPr id="13" name="Text 10"/>
          <p:cNvSpPr/>
          <p:nvPr/>
        </p:nvSpPr>
        <p:spPr>
          <a:xfrm>
            <a:off x="8356600" y="2551361"/>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A35A"/>
                </a:solidFill>
                <a:latin typeface="Arial" pitchFamily="34" charset="0"/>
                <a:ea typeface="Arial" pitchFamily="34" charset="-122"/>
                <a:cs typeface="Arial" pitchFamily="34" charset="-120"/>
              </a:rPr>
              <a:t>2</a:t>
            </a:r>
            <a:endParaRPr lang="en-US" sz="1300" dirty="0"/>
          </a:p>
        </p:txBody>
      </p:sp>
      <p:sp>
        <p:nvSpPr>
          <p:cNvPr id="14" name="Text 11"/>
          <p:cNvSpPr/>
          <p:nvPr/>
        </p:nvSpPr>
        <p:spPr>
          <a:xfrm>
            <a:off x="8712200" y="2438350"/>
            <a:ext cx="2225201"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5F2"/>
                </a:solidFill>
                <a:latin typeface="Arial" pitchFamily="34" charset="0"/>
                <a:ea typeface="Arial" pitchFamily="34" charset="-122"/>
                <a:cs typeface="Arial" pitchFamily="34" charset="-120"/>
              </a:rPr>
              <a:t>Marché</a:t>
            </a:r>
            <a:endParaRPr lang="en-US" sz="1300" dirty="0"/>
          </a:p>
        </p:txBody>
      </p:sp>
      <p:sp>
        <p:nvSpPr>
          <p:cNvPr id="15" name="Text 12"/>
          <p:cNvSpPr/>
          <p:nvPr/>
        </p:nvSpPr>
        <p:spPr>
          <a:xfrm>
            <a:off x="8712200" y="2682180"/>
            <a:ext cx="259246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Cote médiane par ligue et poste</a:t>
            </a:r>
            <a:endParaRPr lang="en-US" sz="1200" dirty="0"/>
          </a:p>
        </p:txBody>
      </p:sp>
      <p:sp>
        <p:nvSpPr>
          <p:cNvPr id="16" name="Shape 13"/>
          <p:cNvSpPr/>
          <p:nvPr/>
        </p:nvSpPr>
        <p:spPr>
          <a:xfrm>
            <a:off x="8229600" y="2997101"/>
            <a:ext cx="3149600" cy="558750"/>
          </a:xfrm>
          <a:prstGeom prst="roundRect">
            <a:avLst>
              <a:gd name="adj" fmla="val 15911"/>
            </a:avLst>
          </a:prstGeom>
          <a:solidFill>
            <a:srgbClr val="F7F5F2">
              <a:alpha val="8000"/>
            </a:srgbClr>
          </a:solidFill>
          <a:ln/>
        </p:spPr>
      </p:sp>
      <p:sp>
        <p:nvSpPr>
          <p:cNvPr id="17" name="Text 14"/>
          <p:cNvSpPr/>
          <p:nvPr/>
        </p:nvSpPr>
        <p:spPr>
          <a:xfrm>
            <a:off x="8356600" y="3160911"/>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A35A"/>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8712200" y="3047901"/>
            <a:ext cx="176256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5F2"/>
                </a:solidFill>
                <a:latin typeface="Arial" pitchFamily="34" charset="0"/>
                <a:ea typeface="Arial" pitchFamily="34" charset="-122"/>
                <a:cs typeface="Arial" pitchFamily="34" charset="-120"/>
              </a:rPr>
              <a:t>Règle</a:t>
            </a:r>
            <a:endParaRPr lang="en-US" sz="1300" dirty="0"/>
          </a:p>
        </p:txBody>
      </p:sp>
      <p:sp>
        <p:nvSpPr>
          <p:cNvPr id="19" name="Text 16"/>
          <p:cNvSpPr/>
          <p:nvPr/>
        </p:nvSpPr>
        <p:spPr>
          <a:xfrm>
            <a:off x="8712200" y="3291731"/>
            <a:ext cx="205347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Cote réelle contre prédite</a:t>
            </a:r>
            <a:endParaRPr lang="en-US" sz="1200" dirty="0"/>
          </a:p>
        </p:txBody>
      </p:sp>
      <p:sp>
        <p:nvSpPr>
          <p:cNvPr id="20" name="Shape 17"/>
          <p:cNvSpPr/>
          <p:nvPr/>
        </p:nvSpPr>
        <p:spPr>
          <a:xfrm>
            <a:off x="8229600" y="3606651"/>
            <a:ext cx="3149600" cy="558750"/>
          </a:xfrm>
          <a:prstGeom prst="roundRect">
            <a:avLst>
              <a:gd name="adj" fmla="val 15911"/>
            </a:avLst>
          </a:prstGeom>
          <a:solidFill>
            <a:srgbClr val="F7F5F2">
              <a:alpha val="8000"/>
            </a:srgbClr>
          </a:solidFill>
          <a:ln/>
        </p:spPr>
      </p:sp>
      <p:sp>
        <p:nvSpPr>
          <p:cNvPr id="21" name="Text 18"/>
          <p:cNvSpPr/>
          <p:nvPr/>
        </p:nvSpPr>
        <p:spPr>
          <a:xfrm>
            <a:off x="8356600" y="3770461"/>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A35A"/>
                </a:solidFill>
                <a:latin typeface="Arial" pitchFamily="34" charset="0"/>
                <a:ea typeface="Arial" pitchFamily="34" charset="-122"/>
                <a:cs typeface="Arial" pitchFamily="34" charset="-120"/>
              </a:rPr>
              <a:t>4</a:t>
            </a:r>
            <a:endParaRPr lang="en-US" sz="1300" dirty="0"/>
          </a:p>
        </p:txBody>
      </p:sp>
      <p:sp>
        <p:nvSpPr>
          <p:cNvPr id="22" name="Text 19"/>
          <p:cNvSpPr/>
          <p:nvPr/>
        </p:nvSpPr>
        <p:spPr>
          <a:xfrm>
            <a:off x="8712200" y="3657451"/>
            <a:ext cx="1849582"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5F2"/>
                </a:solidFill>
                <a:latin typeface="Arial" pitchFamily="34" charset="0"/>
                <a:ea typeface="Arial" pitchFamily="34" charset="-122"/>
                <a:cs typeface="Arial" pitchFamily="34" charset="-120"/>
              </a:rPr>
              <a:t>Écarts</a:t>
            </a:r>
            <a:endParaRPr lang="en-US" sz="1300" dirty="0"/>
          </a:p>
        </p:txBody>
      </p:sp>
      <p:sp>
        <p:nvSpPr>
          <p:cNvPr id="23" name="Text 20"/>
          <p:cNvSpPr/>
          <p:nvPr/>
        </p:nvSpPr>
        <p:spPr>
          <a:xfrm>
            <a:off x="8712200" y="3901281"/>
            <a:ext cx="21548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Joueurs sur- et sous-cotés</a:t>
            </a:r>
            <a:endParaRPr lang="en-US" sz="1200" dirty="0"/>
          </a:p>
        </p:txBody>
      </p:sp>
      <p:sp>
        <p:nvSpPr>
          <p:cNvPr id="24" name="Shape 21"/>
          <p:cNvSpPr/>
          <p:nvPr/>
        </p:nvSpPr>
        <p:spPr>
          <a:xfrm>
            <a:off x="8235950" y="4222552"/>
            <a:ext cx="3136900" cy="571450"/>
          </a:xfrm>
          <a:prstGeom prst="roundRect">
            <a:avLst>
              <a:gd name="adj" fmla="val 14446"/>
            </a:avLst>
          </a:prstGeom>
          <a:solidFill>
            <a:srgbClr val="C4A35A">
              <a:alpha val="22000"/>
            </a:srgbClr>
          </a:solidFill>
          <a:ln w="12700">
            <a:solidFill>
              <a:srgbClr val="C4A35A"/>
            </a:solidFill>
            <a:prstDash val="solid"/>
          </a:ln>
        </p:spPr>
      </p:sp>
      <p:sp>
        <p:nvSpPr>
          <p:cNvPr id="25" name="Text 22"/>
          <p:cNvSpPr/>
          <p:nvPr/>
        </p:nvSpPr>
        <p:spPr>
          <a:xfrm>
            <a:off x="8369300" y="4392712"/>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A35A"/>
                </a:solidFill>
                <a:latin typeface="Arial" pitchFamily="34" charset="0"/>
                <a:ea typeface="Arial" pitchFamily="34" charset="-122"/>
                <a:cs typeface="Arial" pitchFamily="34" charset="-120"/>
              </a:rPr>
              <a:t>5</a:t>
            </a:r>
            <a:endParaRPr lang="en-US" sz="1300" dirty="0"/>
          </a:p>
        </p:txBody>
      </p:sp>
      <p:sp>
        <p:nvSpPr>
          <p:cNvPr id="26" name="Text 23"/>
          <p:cNvSpPr/>
          <p:nvPr/>
        </p:nvSpPr>
        <p:spPr>
          <a:xfrm>
            <a:off x="8724900" y="4279702"/>
            <a:ext cx="238851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5F2"/>
                </a:solidFill>
                <a:latin typeface="Arial" pitchFamily="34" charset="0"/>
                <a:ea typeface="Arial" pitchFamily="34" charset="-122"/>
                <a:cs typeface="Arial" pitchFamily="34" charset="-120"/>
              </a:rPr>
              <a:t>Club &amp; contrat (ci-contre)</a:t>
            </a:r>
            <a:endParaRPr lang="en-US" sz="1300" dirty="0"/>
          </a:p>
        </p:txBody>
      </p:sp>
      <p:sp>
        <p:nvSpPr>
          <p:cNvPr id="27" name="Text 24"/>
          <p:cNvSpPr/>
          <p:nvPr/>
        </p:nvSpPr>
        <p:spPr>
          <a:xfrm>
            <a:off x="8724900" y="4523532"/>
            <a:ext cx="20501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DDC4"/>
                </a:solidFill>
                <a:latin typeface="Arial" pitchFamily="34" charset="0"/>
                <a:ea typeface="Arial" pitchFamily="34" charset="-122"/>
                <a:cs typeface="Arial" pitchFamily="34" charset="-120"/>
              </a:rPr>
              <a:t>Effet grand club et contrat</a:t>
            </a:r>
            <a:endParaRPr lang="en-US" sz="1200" dirty="0"/>
          </a:p>
        </p:txBody>
      </p:sp>
      <p:sp>
        <p:nvSpPr>
          <p:cNvPr id="28" name="Shape 25"/>
          <p:cNvSpPr/>
          <p:nvPr/>
        </p:nvSpPr>
        <p:spPr>
          <a:xfrm>
            <a:off x="8229600" y="4851152"/>
            <a:ext cx="3149600" cy="558750"/>
          </a:xfrm>
          <a:prstGeom prst="roundRect">
            <a:avLst>
              <a:gd name="adj" fmla="val 15911"/>
            </a:avLst>
          </a:prstGeom>
          <a:solidFill>
            <a:srgbClr val="F7F5F2">
              <a:alpha val="8000"/>
            </a:srgbClr>
          </a:solidFill>
          <a:ln/>
        </p:spPr>
      </p:sp>
      <p:sp>
        <p:nvSpPr>
          <p:cNvPr id="29" name="Text 26"/>
          <p:cNvSpPr/>
          <p:nvPr/>
        </p:nvSpPr>
        <p:spPr>
          <a:xfrm>
            <a:off x="8356600" y="5014962"/>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C4A35A"/>
                </a:solidFill>
                <a:latin typeface="Arial" pitchFamily="34" charset="0"/>
                <a:ea typeface="Arial" pitchFamily="34" charset="-122"/>
                <a:cs typeface="Arial" pitchFamily="34" charset="-120"/>
              </a:rPr>
              <a:t>6</a:t>
            </a:r>
            <a:endParaRPr lang="en-US" sz="1300" dirty="0"/>
          </a:p>
        </p:txBody>
      </p:sp>
      <p:sp>
        <p:nvSpPr>
          <p:cNvPr id="30" name="Text 27"/>
          <p:cNvSpPr/>
          <p:nvPr/>
        </p:nvSpPr>
        <p:spPr>
          <a:xfrm>
            <a:off x="8712200" y="4901952"/>
            <a:ext cx="1876153"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7F5F2"/>
                </a:solidFill>
                <a:latin typeface="Arial" pitchFamily="34" charset="0"/>
                <a:ea typeface="Arial" pitchFamily="34" charset="-122"/>
                <a:cs typeface="Arial" pitchFamily="34" charset="-120"/>
              </a:rPr>
              <a:t>Instagram</a:t>
            </a:r>
            <a:endParaRPr lang="en-US" sz="1300" dirty="0"/>
          </a:p>
        </p:txBody>
      </p:sp>
      <p:sp>
        <p:nvSpPr>
          <p:cNvPr id="31" name="Text 28"/>
          <p:cNvSpPr/>
          <p:nvPr/>
        </p:nvSpPr>
        <p:spPr>
          <a:xfrm>
            <a:off x="8712200" y="5145782"/>
            <a:ext cx="21858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Abonnés et écart à la règle</a:t>
            </a:r>
            <a:endParaRPr lang="en-US" sz="1200" dirty="0"/>
          </a:p>
        </p:txBody>
      </p:sp>
      <p:sp>
        <p:nvSpPr>
          <p:cNvPr id="32" name="Shape 29"/>
          <p:cNvSpPr/>
          <p:nvPr/>
        </p:nvSpPr>
        <p:spPr>
          <a:xfrm>
            <a:off x="8229600" y="5460702"/>
            <a:ext cx="3149600" cy="558750"/>
          </a:xfrm>
          <a:prstGeom prst="roundRect">
            <a:avLst>
              <a:gd name="adj" fmla="val 15911"/>
            </a:avLst>
          </a:prstGeom>
          <a:solidFill>
            <a:srgbClr val="C4A35A"/>
          </a:solidFill>
          <a:ln/>
        </p:spPr>
      </p:sp>
      <p:sp>
        <p:nvSpPr>
          <p:cNvPr id="33" name="Text 30"/>
          <p:cNvSpPr/>
          <p:nvPr/>
        </p:nvSpPr>
        <p:spPr>
          <a:xfrm>
            <a:off x="8356600" y="5624513"/>
            <a:ext cx="304800"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365D"/>
                </a:solidFill>
                <a:latin typeface="Arial" pitchFamily="34" charset="0"/>
                <a:ea typeface="Arial" pitchFamily="34" charset="-122"/>
                <a:cs typeface="Arial" pitchFamily="34" charset="-120"/>
              </a:rPr>
              <a:t>7</a:t>
            </a:r>
            <a:endParaRPr lang="en-US" sz="1300" dirty="0"/>
          </a:p>
        </p:txBody>
      </p:sp>
      <p:sp>
        <p:nvSpPr>
          <p:cNvPr id="34" name="Text 31"/>
          <p:cNvSpPr/>
          <p:nvPr/>
        </p:nvSpPr>
        <p:spPr>
          <a:xfrm>
            <a:off x="8712200" y="5511502"/>
            <a:ext cx="198064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B365D"/>
                </a:solidFill>
                <a:latin typeface="Arial" pitchFamily="34" charset="0"/>
                <a:ea typeface="Arial" pitchFamily="34" charset="-122"/>
                <a:cs typeface="Arial" pitchFamily="34" charset="-120"/>
              </a:rPr>
              <a:t>Fiche joueur · démo</a:t>
            </a:r>
            <a:endParaRPr lang="en-US" sz="1300" dirty="0"/>
          </a:p>
        </p:txBody>
      </p:sp>
      <p:sp>
        <p:nvSpPr>
          <p:cNvPr id="35" name="Text 32"/>
          <p:cNvSpPr/>
          <p:nvPr/>
        </p:nvSpPr>
        <p:spPr>
          <a:xfrm>
            <a:off x="8712200" y="5755332"/>
            <a:ext cx="23075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365D"/>
                </a:solidFill>
                <a:latin typeface="Arial" pitchFamily="34" charset="0"/>
                <a:ea typeface="Arial" pitchFamily="34" charset="-122"/>
                <a:cs typeface="Arial" pitchFamily="34" charset="-120"/>
              </a:rPr>
              <a:t>Un joueur : cote, règle, écart</a:t>
            </a:r>
            <a:endParaRPr lang="en-US" sz="1200" dirty="0"/>
          </a:p>
        </p:txBody>
      </p:sp>
      <p:sp>
        <p:nvSpPr>
          <p:cNvPr id="36" name="Text 33"/>
          <p:cNvSpPr/>
          <p:nvPr/>
        </p:nvSpPr>
        <p:spPr>
          <a:xfrm>
            <a:off x="812800" y="6243340"/>
            <a:ext cx="700367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Arial" pitchFamily="34" charset="0"/>
                <a:ea typeface="Arial" pitchFamily="34" charset="-122"/>
                <a:cs typeface="Arial" pitchFamily="34" charset="-120"/>
              </a:rPr>
              <a:t>Filtres championnat et poste sur les pages Marché, Règle, Club &amp; contrat et Instagram</a:t>
            </a:r>
            <a:endParaRPr lang="en-US" sz="1200" dirty="0"/>
          </a:p>
        </p:txBody>
      </p:sp>
      <p:sp>
        <p:nvSpPr>
          <p:cNvPr id="37" name="Text 34"/>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9D3E0"/>
                </a:solidFill>
                <a:latin typeface="Arial" pitchFamily="34" charset="0"/>
                <a:ea typeface="Arial" pitchFamily="34" charset="-122"/>
                <a:cs typeface="Arial"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RECOMMANDATIONS · POUR UN CLUB QUI RECRUTE</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Quatre leviers pour payer le bon prix</a:t>
            </a:r>
            <a:endParaRPr lang="en-US" sz="2800" dirty="0"/>
          </a:p>
        </p:txBody>
      </p:sp>
      <p:sp>
        <p:nvSpPr>
          <p:cNvPr id="4" name="Shape 2"/>
          <p:cNvSpPr/>
          <p:nvPr/>
        </p:nvSpPr>
        <p:spPr>
          <a:xfrm>
            <a:off x="819150" y="1847850"/>
            <a:ext cx="5143500" cy="1108621"/>
          </a:xfrm>
          <a:prstGeom prst="roundRect">
            <a:avLst>
              <a:gd name="adj" fmla="val 10883"/>
            </a:avLst>
          </a:prstGeom>
          <a:solidFill>
            <a:srgbClr val="FFFCF7"/>
          </a:solidFill>
          <a:ln w="12700">
            <a:solidFill>
              <a:srgbClr val="D4C4A8"/>
            </a:solidFill>
            <a:prstDash val="solid"/>
          </a:ln>
          <a:effectLst>
            <a:outerShdw sx="100000" sy="100000" kx="0" ky="0" algn="bl" rotWithShape="0" blurRad="152400" dist="50800" dir="5400000">
              <a:srgbClr val="1B365D">
                <a:alpha val="8000"/>
              </a:srgbClr>
            </a:outerShdw>
          </a:effectLst>
        </p:spPr>
      </p:sp>
      <p:sp>
        <p:nvSpPr>
          <p:cNvPr id="5" name="Shape 3"/>
          <p:cNvSpPr/>
          <p:nvPr/>
        </p:nvSpPr>
        <p:spPr>
          <a:xfrm>
            <a:off x="1028700" y="2097336"/>
            <a:ext cx="609600" cy="609600"/>
          </a:xfrm>
          <a:prstGeom prst="roundRect">
            <a:avLst>
              <a:gd name="adj" fmla="val 50000"/>
            </a:avLst>
          </a:prstGeom>
          <a:solidFill>
            <a:srgbClr val="1B365D"/>
          </a:solidFill>
          <a:ln/>
        </p:spPr>
      </p:sp>
      <p:pic>
        <p:nvPicPr>
          <p:cNvPr id="6" name="Image 0" descr="Chart">    </p:cNvPr>
          <p:cNvPicPr>
            <a:picLocks noChangeAspect="1"/>
          </p:cNvPicPr>
          <p:nvPr/>
        </p:nvPicPr>
        <p:blipFill>
          <a:blip r:embed="rId1"/>
          <a:srcRect l="0" r="0" t="0" b="0"/>
          <a:stretch/>
        </p:blipFill>
        <p:spPr>
          <a:xfrm>
            <a:off x="1181100" y="2249736"/>
            <a:ext cx="304800" cy="304800"/>
          </a:xfrm>
          <a:prstGeom prst="rect">
            <a:avLst/>
          </a:prstGeom>
        </p:spPr>
      </p:pic>
      <p:sp>
        <p:nvSpPr>
          <p:cNvPr id="7" name="Text 4"/>
          <p:cNvSpPr/>
          <p:nvPr/>
        </p:nvSpPr>
        <p:spPr>
          <a:xfrm>
            <a:off x="1816100" y="2032000"/>
            <a:ext cx="4055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65D"/>
                </a:solidFill>
                <a:latin typeface="Arial" pitchFamily="34" charset="0"/>
                <a:ea typeface="Arial" pitchFamily="34" charset="-122"/>
                <a:cs typeface="Arial" pitchFamily="34" charset="-120"/>
              </a:rPr>
              <a:t>Négocier avec la règle</a:t>
            </a:r>
            <a:endParaRPr lang="en-US" sz="1600" dirty="0"/>
          </a:p>
        </p:txBody>
      </p:sp>
      <p:sp>
        <p:nvSpPr>
          <p:cNvPr id="8" name="Text 5"/>
          <p:cNvSpPr/>
          <p:nvPr/>
        </p:nvSpPr>
        <p:spPr>
          <a:xfrm>
            <a:off x="1816100" y="2326630"/>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A5E"/>
                </a:solidFill>
                <a:latin typeface="Arial" pitchFamily="34" charset="0"/>
                <a:ea typeface="Arial" pitchFamily="34" charset="-122"/>
                <a:cs typeface="Arial" pitchFamily="34" charset="-120"/>
              </a:rPr>
              <a:t>Au-delà de ×2, on paie le nom ou le maillot, pas la saison.</a:t>
            </a:r>
            <a:endParaRPr lang="en-US" sz="1300" dirty="0"/>
          </a:p>
        </p:txBody>
      </p:sp>
      <p:sp>
        <p:nvSpPr>
          <p:cNvPr id="9" name="Shape 6"/>
          <p:cNvSpPr/>
          <p:nvPr/>
        </p:nvSpPr>
        <p:spPr>
          <a:xfrm>
            <a:off x="6229350" y="1847850"/>
            <a:ext cx="5143500" cy="977900"/>
          </a:xfrm>
          <a:prstGeom prst="roundRect">
            <a:avLst>
              <a:gd name="adj" fmla="val 12338"/>
            </a:avLst>
          </a:prstGeom>
          <a:solidFill>
            <a:srgbClr val="FFFCF7"/>
          </a:solidFill>
          <a:ln w="12700">
            <a:solidFill>
              <a:srgbClr val="D4C4A8"/>
            </a:solidFill>
            <a:prstDash val="solid"/>
          </a:ln>
          <a:effectLst>
            <a:outerShdw sx="100000" sy="100000" kx="0" ky="0" algn="bl" rotWithShape="0" blurRad="152400" dist="50800" dir="5400000">
              <a:srgbClr val="1B365D">
                <a:alpha val="8000"/>
              </a:srgbClr>
            </a:outerShdw>
          </a:effectLst>
        </p:spPr>
      </p:sp>
      <p:sp>
        <p:nvSpPr>
          <p:cNvPr id="10" name="Shape 7"/>
          <p:cNvSpPr/>
          <p:nvPr/>
        </p:nvSpPr>
        <p:spPr>
          <a:xfrm>
            <a:off x="6438900" y="2032000"/>
            <a:ext cx="609600" cy="609600"/>
          </a:xfrm>
          <a:prstGeom prst="roundRect">
            <a:avLst>
              <a:gd name="adj" fmla="val 50000"/>
            </a:avLst>
          </a:prstGeom>
          <a:solidFill>
            <a:srgbClr val="C4A35A"/>
          </a:solidFill>
          <a:ln/>
        </p:spPr>
      </p:sp>
      <p:pic>
        <p:nvPicPr>
          <p:cNvPr id="11" name="Image 1" descr="Search">    </p:cNvPr>
          <p:cNvPicPr>
            <a:picLocks noChangeAspect="1"/>
          </p:cNvPicPr>
          <p:nvPr/>
        </p:nvPicPr>
        <p:blipFill>
          <a:blip r:embed="rId2"/>
          <a:srcRect l="0" r="0" t="0" b="0"/>
          <a:stretch/>
        </p:blipFill>
        <p:spPr>
          <a:xfrm>
            <a:off x="6591300" y="2184400"/>
            <a:ext cx="304800" cy="304800"/>
          </a:xfrm>
          <a:prstGeom prst="rect">
            <a:avLst/>
          </a:prstGeom>
        </p:spPr>
      </p:pic>
      <p:sp>
        <p:nvSpPr>
          <p:cNvPr id="12" name="Text 8"/>
          <p:cNvSpPr/>
          <p:nvPr/>
        </p:nvSpPr>
        <p:spPr>
          <a:xfrm>
            <a:off x="7226300" y="2078038"/>
            <a:ext cx="4055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65D"/>
                </a:solidFill>
                <a:latin typeface="Arial" pitchFamily="34" charset="0"/>
                <a:ea typeface="Arial" pitchFamily="34" charset="-122"/>
                <a:cs typeface="Arial" pitchFamily="34" charset="-120"/>
              </a:rPr>
              <a:t>Chercher hors des grands clubs</a:t>
            </a:r>
            <a:endParaRPr lang="en-US" sz="1600" dirty="0"/>
          </a:p>
        </p:txBody>
      </p:sp>
      <p:sp>
        <p:nvSpPr>
          <p:cNvPr id="13" name="Text 9"/>
          <p:cNvSpPr/>
          <p:nvPr/>
        </p:nvSpPr>
        <p:spPr>
          <a:xfrm>
            <a:off x="7226300" y="2372668"/>
            <a:ext cx="4055110"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A5E"/>
                </a:solidFill>
                <a:latin typeface="Arial" pitchFamily="34" charset="0"/>
                <a:ea typeface="Arial" pitchFamily="34" charset="-122"/>
                <a:cs typeface="Arial" pitchFamily="34" charset="-120"/>
              </a:rPr>
              <a:t>À profil égal, environ 2,8 fois moins cher.</a:t>
            </a:r>
            <a:endParaRPr lang="en-US" sz="1300" dirty="0"/>
          </a:p>
        </p:txBody>
      </p:sp>
      <p:sp>
        <p:nvSpPr>
          <p:cNvPr id="14" name="Shape 10"/>
          <p:cNvSpPr/>
          <p:nvPr/>
        </p:nvSpPr>
        <p:spPr>
          <a:xfrm>
            <a:off x="819150" y="3752850"/>
            <a:ext cx="5143500" cy="1108621"/>
          </a:xfrm>
          <a:prstGeom prst="roundRect">
            <a:avLst>
              <a:gd name="adj" fmla="val 10883"/>
            </a:avLst>
          </a:prstGeom>
          <a:solidFill>
            <a:srgbClr val="FFFCF7"/>
          </a:solidFill>
          <a:ln w="12700">
            <a:solidFill>
              <a:srgbClr val="D4C4A8"/>
            </a:solidFill>
            <a:prstDash val="solid"/>
          </a:ln>
          <a:effectLst>
            <a:outerShdw sx="100000" sy="100000" kx="0" ky="0" algn="bl" rotWithShape="0" blurRad="152400" dist="50800" dir="5400000">
              <a:srgbClr val="1B365D">
                <a:alpha val="8000"/>
              </a:srgbClr>
            </a:outerShdw>
          </a:effectLst>
        </p:spPr>
      </p:sp>
      <p:sp>
        <p:nvSpPr>
          <p:cNvPr id="15" name="Shape 11"/>
          <p:cNvSpPr/>
          <p:nvPr/>
        </p:nvSpPr>
        <p:spPr>
          <a:xfrm>
            <a:off x="1028700" y="4002336"/>
            <a:ext cx="609600" cy="609600"/>
          </a:xfrm>
          <a:prstGeom prst="roundRect">
            <a:avLst>
              <a:gd name="adj" fmla="val 50000"/>
            </a:avLst>
          </a:prstGeom>
          <a:solidFill>
            <a:srgbClr val="C4A35A"/>
          </a:solidFill>
          <a:ln/>
        </p:spPr>
      </p:sp>
      <p:pic>
        <p:nvPicPr>
          <p:cNvPr id="16" name="Image 2" descr="Clock">    </p:cNvPr>
          <p:cNvPicPr>
            <a:picLocks noChangeAspect="1"/>
          </p:cNvPicPr>
          <p:nvPr/>
        </p:nvPicPr>
        <p:blipFill>
          <a:blip r:embed="rId3"/>
          <a:srcRect l="0" r="0" t="0" b="0"/>
          <a:stretch/>
        </p:blipFill>
        <p:spPr>
          <a:xfrm>
            <a:off x="1181100" y="4154736"/>
            <a:ext cx="304800" cy="304800"/>
          </a:xfrm>
          <a:prstGeom prst="rect">
            <a:avLst/>
          </a:prstGeom>
        </p:spPr>
      </p:pic>
      <p:sp>
        <p:nvSpPr>
          <p:cNvPr id="17" name="Text 12"/>
          <p:cNvSpPr/>
          <p:nvPr/>
        </p:nvSpPr>
        <p:spPr>
          <a:xfrm>
            <a:off x="1816100" y="3937000"/>
            <a:ext cx="4055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65D"/>
                </a:solidFill>
                <a:latin typeface="Arial" pitchFamily="34" charset="0"/>
                <a:ea typeface="Arial" pitchFamily="34" charset="-122"/>
                <a:cs typeface="Arial" pitchFamily="34" charset="-120"/>
              </a:rPr>
              <a:t>Viser les fins de contrat</a:t>
            </a:r>
            <a:endParaRPr lang="en-US" sz="1600" dirty="0"/>
          </a:p>
        </p:txBody>
      </p:sp>
      <p:sp>
        <p:nvSpPr>
          <p:cNvPr id="18" name="Text 13"/>
          <p:cNvSpPr/>
          <p:nvPr/>
        </p:nvSpPr>
        <p:spPr>
          <a:xfrm>
            <a:off x="1816100" y="4231630"/>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A5E"/>
                </a:solidFill>
                <a:latin typeface="Arial" pitchFamily="34" charset="0"/>
                <a:ea typeface="Arial" pitchFamily="34" charset="-122"/>
                <a:cs typeface="Arial" pitchFamily="34" charset="-120"/>
              </a:rPr>
              <a:t>À 0 ou 1 an, le joueur vaut ×0,9 de la règle : le vendeur doit vendre.</a:t>
            </a:r>
            <a:endParaRPr lang="en-US" sz="1300" dirty="0"/>
          </a:p>
        </p:txBody>
      </p:sp>
      <p:sp>
        <p:nvSpPr>
          <p:cNvPr id="19" name="Shape 14"/>
          <p:cNvSpPr/>
          <p:nvPr/>
        </p:nvSpPr>
        <p:spPr>
          <a:xfrm>
            <a:off x="6229350" y="3752850"/>
            <a:ext cx="5143500" cy="1108621"/>
          </a:xfrm>
          <a:prstGeom prst="roundRect">
            <a:avLst>
              <a:gd name="adj" fmla="val 10883"/>
            </a:avLst>
          </a:prstGeom>
          <a:solidFill>
            <a:srgbClr val="FFFCF7"/>
          </a:solidFill>
          <a:ln w="12700">
            <a:solidFill>
              <a:srgbClr val="D4C4A8"/>
            </a:solidFill>
            <a:prstDash val="solid"/>
          </a:ln>
          <a:effectLst>
            <a:outerShdw sx="100000" sy="100000" kx="0" ky="0" algn="bl" rotWithShape="0" blurRad="152400" dist="50800" dir="5400000">
              <a:srgbClr val="1B365D">
                <a:alpha val="8000"/>
              </a:srgbClr>
            </a:outerShdw>
          </a:effectLst>
        </p:spPr>
      </p:sp>
      <p:sp>
        <p:nvSpPr>
          <p:cNvPr id="20" name="Shape 15"/>
          <p:cNvSpPr/>
          <p:nvPr/>
        </p:nvSpPr>
        <p:spPr>
          <a:xfrm>
            <a:off x="6438900" y="4002336"/>
            <a:ext cx="609600" cy="609600"/>
          </a:xfrm>
          <a:prstGeom prst="roundRect">
            <a:avLst>
              <a:gd name="adj" fmla="val 50000"/>
            </a:avLst>
          </a:prstGeom>
          <a:solidFill>
            <a:srgbClr val="1B365D"/>
          </a:solidFill>
          <a:ln/>
        </p:spPr>
      </p:sp>
      <p:pic>
        <p:nvPicPr>
          <p:cNvPr id="21" name="Image 3" descr="Globe">    </p:cNvPr>
          <p:cNvPicPr>
            <a:picLocks noChangeAspect="1"/>
          </p:cNvPicPr>
          <p:nvPr/>
        </p:nvPicPr>
        <p:blipFill>
          <a:blip r:embed="rId4"/>
          <a:srcRect l="0" r="0" t="0" b="0"/>
          <a:stretch/>
        </p:blipFill>
        <p:spPr>
          <a:xfrm>
            <a:off x="6591300" y="4154736"/>
            <a:ext cx="304800" cy="304800"/>
          </a:xfrm>
          <a:prstGeom prst="rect">
            <a:avLst/>
          </a:prstGeom>
        </p:spPr>
      </p:pic>
      <p:sp>
        <p:nvSpPr>
          <p:cNvPr id="22" name="Text 16"/>
          <p:cNvSpPr/>
          <p:nvPr/>
        </p:nvSpPr>
        <p:spPr>
          <a:xfrm>
            <a:off x="7226300" y="3937000"/>
            <a:ext cx="4055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65D"/>
                </a:solidFill>
                <a:latin typeface="Arial" pitchFamily="34" charset="0"/>
                <a:ea typeface="Arial" pitchFamily="34" charset="-122"/>
                <a:cs typeface="Arial" pitchFamily="34" charset="-120"/>
              </a:rPr>
              <a:t>Ne pas payer la prime anglaise</a:t>
            </a:r>
            <a:endParaRPr lang="en-US" sz="1600" dirty="0"/>
          </a:p>
        </p:txBody>
      </p:sp>
      <p:sp>
        <p:nvSpPr>
          <p:cNvPr id="23" name="Text 17"/>
          <p:cNvSpPr/>
          <p:nvPr/>
        </p:nvSpPr>
        <p:spPr>
          <a:xfrm>
            <a:off x="7226300" y="4231630"/>
            <a:ext cx="405511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A4A5E"/>
                </a:solidFill>
                <a:latin typeface="Arial" pitchFamily="34" charset="0"/>
                <a:ea typeface="Arial" pitchFamily="34" charset="-122"/>
                <a:cs typeface="Arial" pitchFamily="34" charset="-120"/>
              </a:rPr>
              <a:t>×2,6 en Premier League : recruter ailleurs, vendre en Angleterre.</a:t>
            </a:r>
            <a:endParaRPr lang="en-US" sz="1300" dirty="0"/>
          </a:p>
        </p:txBody>
      </p:sp>
      <p:sp>
        <p:nvSpPr>
          <p:cNvPr id="24" name="Text 18"/>
          <p:cNvSpPr/>
          <p:nvPr/>
        </p:nvSpPr>
        <p:spPr>
          <a:xfrm>
            <a:off x="812800" y="6243340"/>
            <a:ext cx="60655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Chiffres à profil égal : stats, âge, poste et championnat déjà pris en compte</a:t>
            </a:r>
            <a:endParaRPr lang="en-US" sz="1200" dirty="0"/>
          </a:p>
        </p:txBody>
      </p:sp>
      <p:sp>
        <p:nvSpPr>
          <p:cNvPr id="25" name="Text 19"/>
          <p:cNvSpPr/>
          <p:nvPr/>
        </p:nvSpPr>
        <p:spPr>
          <a:xfrm>
            <a:off x="10921643" y="6243340"/>
            <a:ext cx="457557"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8E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C6D2A"/>
                </a:solidFill>
                <a:latin typeface="Arial" pitchFamily="34" charset="0"/>
                <a:ea typeface="Arial" pitchFamily="34" charset="-122"/>
                <a:cs typeface="Arial" pitchFamily="34" charset="-120"/>
              </a:rPr>
              <a:t>LIMITES ET SUITE</a:t>
            </a:r>
            <a:endParaRPr lang="en-US" sz="1200" dirty="0"/>
          </a:p>
        </p:txBody>
      </p:sp>
      <p:sp>
        <p:nvSpPr>
          <p:cNvPr id="3" name="Text 1"/>
          <p:cNvSpPr/>
          <p:nvPr>
            <p:ph type="title"/>
          </p:nvPr>
        </p:nvSpPr>
        <p:spPr>
          <a:xfrm>
            <a:off x="812800" y="1178520"/>
            <a:ext cx="10883392" cy="43433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B365D"/>
                </a:solidFill>
                <a:latin typeface="Arial" pitchFamily="34" charset="0"/>
                <a:ea typeface="Arial" pitchFamily="34" charset="-122"/>
                <a:cs typeface="Arial" pitchFamily="34" charset="-120"/>
              </a:rPr>
              <a:t>Une règle pour aujourd'hui, une prédiction pour demain</a:t>
            </a:r>
            <a:endParaRPr lang="en-US" sz="2800" dirty="0"/>
          </a:p>
        </p:txBody>
      </p:sp>
      <p:sp>
        <p:nvSpPr>
          <p:cNvPr id="4" name="Shape 2"/>
          <p:cNvSpPr/>
          <p:nvPr/>
        </p:nvSpPr>
        <p:spPr>
          <a:xfrm>
            <a:off x="819150" y="1847850"/>
            <a:ext cx="4813300" cy="1635720"/>
          </a:xfrm>
          <a:prstGeom prst="roundRect">
            <a:avLst>
              <a:gd name="adj" fmla="val 7376"/>
            </a:avLst>
          </a:prstGeom>
          <a:solidFill>
            <a:srgbClr val="FFFCF7"/>
          </a:solidFill>
          <a:ln w="12700">
            <a:solidFill>
              <a:srgbClr val="D4C4A8"/>
            </a:solidFill>
            <a:prstDash val="solid"/>
          </a:ln>
        </p:spPr>
      </p:sp>
      <p:pic>
        <p:nvPicPr>
          <p:cNvPr id="5" name="Image 0" descr="Warning">    </p:cNvPr>
          <p:cNvPicPr>
            <a:picLocks noChangeAspect="1"/>
          </p:cNvPicPr>
          <p:nvPr/>
        </p:nvPicPr>
        <p:blipFill>
          <a:blip r:embed="rId1"/>
          <a:srcRect l="0" r="0" t="0" b="0"/>
          <a:stretch/>
        </p:blipFill>
        <p:spPr>
          <a:xfrm>
            <a:off x="1028700" y="2032000"/>
            <a:ext cx="254000" cy="254000"/>
          </a:xfrm>
          <a:prstGeom prst="rect">
            <a:avLst/>
          </a:prstGeom>
        </p:spPr>
      </p:pic>
      <p:sp>
        <p:nvSpPr>
          <p:cNvPr id="6" name="Text 3"/>
          <p:cNvSpPr/>
          <p:nvPr/>
        </p:nvSpPr>
        <p:spPr>
          <a:xfrm>
            <a:off x="1384300" y="2037060"/>
            <a:ext cx="853678"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65D"/>
                </a:solidFill>
                <a:latin typeface="Arial" pitchFamily="34" charset="0"/>
                <a:ea typeface="Arial" pitchFamily="34" charset="-122"/>
                <a:cs typeface="Arial" pitchFamily="34" charset="-120"/>
              </a:rPr>
              <a:t>Limites</a:t>
            </a:r>
            <a:endParaRPr lang="en-US" sz="1600" dirty="0"/>
          </a:p>
        </p:txBody>
      </p:sp>
      <p:sp>
        <p:nvSpPr>
          <p:cNvPr id="7" name="Text 4"/>
          <p:cNvSpPr/>
          <p:nvPr/>
        </p:nvSpPr>
        <p:spPr>
          <a:xfrm>
            <a:off x="1126744" y="2374900"/>
            <a:ext cx="4420362" cy="94992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3A4A5E"/>
                </a:solidFill>
                <a:latin typeface="Arial" pitchFamily="34" charset="0"/>
                <a:ea typeface="Arial" pitchFamily="34" charset="-122"/>
                <a:cs typeface="Arial" pitchFamily="34" charset="-120"/>
              </a:rPr>
              <a:t>Jointures sur le nom : 82 % (cotes), 62 % (salaires)</a:t>
            </a:r>
            <a:endParaRPr lang="en-US" sz="1300" dirty="0"/>
          </a:p>
          <a:p>
            <a:pPr algn="l" marL="155956" indent="-155956">
              <a:lnSpc>
                <a:spcPts val="1820"/>
              </a:lnSpc>
              <a:buSzPct val="100000"/>
              <a:buChar char="•"/>
            </a:pPr>
            <a:r>
              <a:rPr lang="en-US" sz="1300" dirty="0">
                <a:solidFill>
                  <a:srgbClr val="3A4A5E"/>
                </a:solidFill>
                <a:latin typeface="Arial" pitchFamily="34" charset="0"/>
                <a:ea typeface="Arial" pitchFamily="34" charset="-122"/>
                <a:cs typeface="Arial" pitchFamily="34" charset="-120"/>
              </a:rPr>
              <a:t>Contrats après 2030 absents de SalarySport</a:t>
            </a:r>
            <a:endParaRPr lang="en-US" sz="1300" dirty="0"/>
          </a:p>
          <a:p>
            <a:pPr algn="l" marL="155956" indent="-155956">
              <a:lnSpc>
                <a:spcPts val="1820"/>
              </a:lnSpc>
              <a:buSzPct val="100000"/>
              <a:buChar char="•"/>
            </a:pPr>
            <a:r>
              <a:rPr lang="en-US" sz="1300" dirty="0">
                <a:solidFill>
                  <a:srgbClr val="3A4A5E"/>
                </a:solidFill>
                <a:latin typeface="Arial" pitchFamily="34" charset="0"/>
                <a:ea typeface="Arial" pitchFamily="34" charset="-122"/>
                <a:cs typeface="Arial" pitchFamily="34" charset="-120"/>
              </a:rPr>
              <a:t>Salaires estimés, pas officiels</a:t>
            </a:r>
            <a:endParaRPr lang="en-US" sz="1300" dirty="0"/>
          </a:p>
          <a:p>
            <a:pPr algn="l" marL="155956" indent="-155956">
              <a:lnSpc>
                <a:spcPts val="1820"/>
              </a:lnSpc>
              <a:buSzPct val="100000"/>
              <a:buChar char="•"/>
            </a:pPr>
            <a:r>
              <a:rPr lang="en-US" sz="1300" dirty="0">
                <a:solidFill>
                  <a:srgbClr val="3A4A5E"/>
                </a:solidFill>
                <a:latin typeface="Arial" pitchFamily="34" charset="0"/>
                <a:ea typeface="Arial" pitchFamily="34" charset="-122"/>
                <a:cs typeface="Arial" pitchFamily="34" charset="-120"/>
              </a:rPr>
              <a:t>Instagram : 100 joueurs, un seul relevé</a:t>
            </a:r>
            <a:endParaRPr lang="en-US" sz="1300" dirty="0"/>
          </a:p>
        </p:txBody>
      </p:sp>
      <p:pic>
        <p:nvPicPr>
          <p:cNvPr id="8" name="Image 1" descr="arrow-right">    </p:cNvPr>
          <p:cNvPicPr>
            <a:picLocks noChangeAspect="1"/>
          </p:cNvPicPr>
          <p:nvPr/>
        </p:nvPicPr>
        <p:blipFill>
          <a:blip r:embed="rId2"/>
          <a:srcRect l="0" r="0" t="0" b="0"/>
          <a:stretch/>
        </p:blipFill>
        <p:spPr>
          <a:xfrm>
            <a:off x="5765800" y="2667000"/>
            <a:ext cx="660400" cy="330200"/>
          </a:xfrm>
          <a:prstGeom prst="rect">
            <a:avLst/>
          </a:prstGeom>
        </p:spPr>
      </p:pic>
      <p:sp>
        <p:nvSpPr>
          <p:cNvPr id="9" name="Shape 5"/>
          <p:cNvSpPr/>
          <p:nvPr/>
        </p:nvSpPr>
        <p:spPr>
          <a:xfrm>
            <a:off x="6562725" y="1851025"/>
            <a:ext cx="4806950" cy="1410940"/>
          </a:xfrm>
          <a:prstGeom prst="roundRect">
            <a:avLst>
              <a:gd name="adj" fmla="val 8326"/>
            </a:avLst>
          </a:prstGeom>
          <a:solidFill>
            <a:srgbClr val="FFFCF7"/>
          </a:solidFill>
          <a:ln w="19050">
            <a:solidFill>
              <a:srgbClr val="C4A35A"/>
            </a:solidFill>
            <a:prstDash val="solid"/>
          </a:ln>
        </p:spPr>
      </p:sp>
      <p:pic>
        <p:nvPicPr>
          <p:cNvPr id="10" name="Image 2" descr="Lightbulb">    </p:cNvPr>
          <p:cNvPicPr>
            <a:picLocks noChangeAspect="1"/>
          </p:cNvPicPr>
          <p:nvPr/>
        </p:nvPicPr>
        <p:blipFill>
          <a:blip r:embed="rId3"/>
          <a:srcRect l="0" r="0" t="0" b="0"/>
          <a:stretch/>
        </p:blipFill>
        <p:spPr>
          <a:xfrm>
            <a:off x="6775450" y="2038350"/>
            <a:ext cx="254000" cy="254000"/>
          </a:xfrm>
          <a:prstGeom prst="rect">
            <a:avLst/>
          </a:prstGeom>
        </p:spPr>
      </p:pic>
      <p:sp>
        <p:nvSpPr>
          <p:cNvPr id="11" name="Text 6"/>
          <p:cNvSpPr/>
          <p:nvPr/>
        </p:nvSpPr>
        <p:spPr>
          <a:xfrm>
            <a:off x="7131050" y="2043410"/>
            <a:ext cx="718423"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365D"/>
                </a:solidFill>
                <a:latin typeface="Arial" pitchFamily="34" charset="0"/>
                <a:ea typeface="Arial" pitchFamily="34" charset="-122"/>
                <a:cs typeface="Arial" pitchFamily="34" charset="-120"/>
              </a:rPr>
              <a:t>Pistes</a:t>
            </a:r>
            <a:endParaRPr lang="en-US" sz="1600" dirty="0"/>
          </a:p>
        </p:txBody>
      </p:sp>
      <p:sp>
        <p:nvSpPr>
          <p:cNvPr id="12" name="Text 7"/>
          <p:cNvSpPr/>
          <p:nvPr/>
        </p:nvSpPr>
        <p:spPr>
          <a:xfrm>
            <a:off x="6873494" y="2381250"/>
            <a:ext cx="4407281" cy="71879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b="1" dirty="0">
                <a:solidFill>
                  <a:srgbClr val="1B365D"/>
                </a:solidFill>
                <a:latin typeface="Arial" pitchFamily="34" charset="0"/>
                <a:ea typeface="Arial" pitchFamily="34" charset="-122"/>
                <a:cs typeface="Arial" pitchFamily="34" charset="-120"/>
              </a:rPr>
              <a:t>Prédire la valeur future</a:t>
            </a:r>
            <a:r>
              <a:rPr lang="en-US" sz="1300" dirty="0">
                <a:solidFill>
                  <a:srgbClr val="3A4A5E"/>
                </a:solidFill>
                <a:latin typeface="Arial" pitchFamily="34" charset="0"/>
                <a:ea typeface="Arial" pitchFamily="34" charset="-122"/>
                <a:cs typeface="Arial" pitchFamily="34" charset="-120"/>
              </a:rPr>
              <a:t> avec l'historique Transfermarkt</a:t>
            </a:r>
            <a:endParaRPr lang="en-US" sz="1300" dirty="0"/>
          </a:p>
          <a:p>
            <a:pPr algn="l" marL="155956" indent="-155956">
              <a:lnSpc>
                <a:spcPts val="1820"/>
              </a:lnSpc>
              <a:buSzPct val="100000"/>
              <a:buChar char="•"/>
            </a:pPr>
            <a:r>
              <a:rPr lang="en-US" sz="1300" dirty="0">
                <a:solidFill>
                  <a:srgbClr val="3A4A5E"/>
                </a:solidFill>
                <a:latin typeface="Arial" pitchFamily="34" charset="0"/>
                <a:ea typeface="Arial" pitchFamily="34" charset="-122"/>
                <a:cs typeface="Arial" pitchFamily="34" charset="-120"/>
              </a:rPr>
              <a:t>Plusieurs saisons FBref pour entraîner et tester</a:t>
            </a:r>
            <a:endParaRPr lang="en-US" sz="1300" dirty="0"/>
          </a:p>
          <a:p>
            <a:pPr algn="l" marL="155956" indent="-155956">
              <a:lnSpc>
                <a:spcPts val="1820"/>
              </a:lnSpc>
              <a:buSzPct val="100000"/>
              <a:buChar char="•"/>
            </a:pPr>
            <a:r>
              <a:rPr lang="en-US" sz="1300" dirty="0">
                <a:solidFill>
                  <a:srgbClr val="3A4A5E"/>
                </a:solidFill>
                <a:latin typeface="Arial" pitchFamily="34" charset="0"/>
                <a:ea typeface="Arial" pitchFamily="34" charset="-122"/>
                <a:cs typeface="Arial" pitchFamily="34" charset="-120"/>
              </a:rPr>
              <a:t>Relevés Instagram répétés dans le temps</a:t>
            </a:r>
            <a:endParaRPr lang="en-US" sz="1300" dirty="0"/>
          </a:p>
        </p:txBody>
      </p:sp>
      <p:sp>
        <p:nvSpPr>
          <p:cNvPr id="13" name="Shape 8"/>
          <p:cNvSpPr/>
          <p:nvPr/>
        </p:nvSpPr>
        <p:spPr>
          <a:xfrm>
            <a:off x="812800" y="4699000"/>
            <a:ext cx="10566400" cy="1016000"/>
          </a:xfrm>
          <a:prstGeom prst="roundRect">
            <a:avLst>
              <a:gd name="adj" fmla="val 15000"/>
            </a:avLst>
          </a:prstGeom>
          <a:gradFill rotWithShape="1">
            <a:gsLst>
              <a:gs pos="0">
                <a:srgbClr val="1B365D"/>
              </a:gs>
              <a:gs pos="100000">
                <a:srgbClr val="14263F"/>
              </a:gs>
            </a:gsLst>
            <a:lin ang="2700000" scaled="0"/>
          </a:gradFill>
          <a:ln/>
        </p:spPr>
      </p:sp>
      <p:sp>
        <p:nvSpPr>
          <p:cNvPr id="14" name="Text 9"/>
          <p:cNvSpPr/>
          <p:nvPr/>
        </p:nvSpPr>
        <p:spPr>
          <a:xfrm>
            <a:off x="1168400" y="4958060"/>
            <a:ext cx="4742259"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7F5F2"/>
                </a:solidFill>
                <a:latin typeface="Arial" pitchFamily="34" charset="0"/>
                <a:ea typeface="Arial" pitchFamily="34" charset="-122"/>
                <a:cs typeface="Arial" pitchFamily="34" charset="-120"/>
              </a:rPr>
              <a:t>Merci · vos questions ?</a:t>
            </a:r>
            <a:endParaRPr lang="en-US" sz="2800" dirty="0"/>
          </a:p>
        </p:txBody>
      </p:sp>
      <p:sp>
        <p:nvSpPr>
          <p:cNvPr id="15" name="Text 10"/>
          <p:cNvSpPr/>
          <p:nvPr/>
        </p:nvSpPr>
        <p:spPr>
          <a:xfrm>
            <a:off x="7248723" y="5082530"/>
            <a:ext cx="3774877"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4A35A"/>
                </a:solidFill>
                <a:latin typeface="Arial" pitchFamily="34" charset="0"/>
                <a:ea typeface="Arial" pitchFamily="34" charset="-122"/>
                <a:cs typeface="Arial" pitchFamily="34" charset="-120"/>
              </a:rPr>
              <a:t>Python · SQL · Power BI · web scraping</a:t>
            </a:r>
            <a:endParaRPr lang="en-US" sz="1400" dirty="0"/>
          </a:p>
        </p:txBody>
      </p:sp>
      <p:sp>
        <p:nvSpPr>
          <p:cNvPr id="16" name="Text 11"/>
          <p:cNvSpPr/>
          <p:nvPr/>
        </p:nvSpPr>
        <p:spPr>
          <a:xfrm>
            <a:off x="812800" y="6243340"/>
            <a:ext cx="32396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B7B"/>
                </a:solidFill>
                <a:latin typeface="Arial" pitchFamily="34" charset="0"/>
                <a:ea typeface="Arial" pitchFamily="34" charset="-122"/>
                <a:cs typeface="Arial" pitchFamily="34" charset="-120"/>
              </a:rPr>
              <a:t>Valorisation des joueurs · Big 5 2025-26</a:t>
            </a:r>
            <a:endParaRPr lang="en-US" sz="1200" dirty="0"/>
          </a:p>
        </p:txBody>
      </p:sp>
      <p:sp>
        <p:nvSpPr>
          <p:cNvPr id="17" name="Text 12"/>
          <p:cNvSpPr/>
          <p:nvPr/>
        </p:nvSpPr>
        <p:spPr>
          <a:xfrm>
            <a:off x="10819904" y="6243340"/>
            <a:ext cx="559296"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B7B"/>
                </a:solidFill>
                <a:latin typeface="Arial" pitchFamily="34" charset="0"/>
                <a:ea typeface="Arial" pitchFamily="34" charset="-122"/>
                <a:cs typeface="Arial" pitchFamily="34" charset="-120"/>
              </a:rPr>
              <a:t>10 / 10</a:t>
            </a:r>
            <a:endParaRPr lang="en-US" sz="1200" dirty="0"/>
          </a:p>
        </p:txBody>
      </p:sp>
    </p:spTree>
  </p:cSld>
  <p:clrMapOvr>
    <a:masterClrMapping/>
  </p:clrMapOvr>
</p:sld>
</file>

<file path=ppt/theme/theme1.xml><?xml version="1.0" encoding="utf-8"?>
<a:theme xmlns:a="http://schemas.openxmlformats.org/drawingml/2006/main" name="Soutenance — Valorisation des joueurs">
  <a:themeElements>
    <a:clrScheme name="Soutenance — Valorisation des joueurs">
      <a:dk1>
        <a:srgbClr val="1B365D"/>
      </a:dk1>
      <a:lt1>
        <a:srgbClr val="F7F5F2"/>
      </a:lt1>
      <a:dk2>
        <a:srgbClr val="526682"/>
      </a:dk2>
      <a:lt2>
        <a:srgbClr val="E1E2E3"/>
      </a:lt2>
      <a:accent1>
        <a:srgbClr val="C4A35A"/>
      </a:accent1>
      <a:accent2>
        <a:srgbClr val="8C6D2A"/>
      </a:accent2>
      <a:accent3>
        <a:srgbClr val="14263F"/>
      </a:accent3>
      <a:accent4>
        <a:srgbClr val="C45C26"/>
      </a:accent4>
      <a:accent5>
        <a:srgbClr val="9FB3C8"/>
      </a:accent5>
      <a:accent6>
        <a:srgbClr val="E8C97A"/>
      </a:accent6>
      <a:hlink>
        <a:srgbClr val="0563C1"/>
      </a:hlink>
      <a:folHlink>
        <a:srgbClr val="954F72"/>
      </a:folHlink>
    </a:clrScheme>
    <a:fontScheme name="Soutenance — Valorisation des joueur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Valorisation des joueurs</dc:title>
  <dc:subject/>
  <dc:creator/>
  <cp:lastModifiedBy/>
  <cp:revision>1</cp:revision>
  <dcterms:created xsi:type="dcterms:W3CDTF">2026-10-13T13:09:19Z</dcterms:created>
  <dcterms:modified xsi:type="dcterms:W3CDTF">2026-10-13T13:09:19Z</dcterms:modified>
</cp:coreProperties>
</file>